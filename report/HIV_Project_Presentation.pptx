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292608" cy="6858000"/>
          </a:xfrm>
          <a:prstGeom prst="rect">
            <a:avLst/>
          </a:prstGeom>
          <a:solidFill>
            <a:srgbClr val="E07B1C"/>
          </a:solidFill>
          <a:ln/>
        </p:spPr>
      </p:sp>
      <p:sp>
        <p:nvSpPr>
          <p:cNvPr id="3" name="Text 1"/>
          <p:cNvSpPr/>
          <p:nvPr/>
        </p:nvSpPr>
        <p:spPr>
          <a:xfrm>
            <a:off x="914400" y="1234440"/>
            <a:ext cx="10058400" cy="365760"/>
          </a:xfrm>
          <a:prstGeom prst="rect">
            <a:avLst/>
          </a:prstGeom>
          <a:noFill/>
          <a:ln/>
        </p:spPr>
        <p:txBody>
          <a:bodyPr wrap="square" lIns="0" tIns="0" rIns="0" bIns="0" rtlCol="0" anchor="ctr"/>
          <a:lstStyle/>
          <a:p>
            <a:pPr indent="0" marL="0">
              <a:buNone/>
            </a:pPr>
            <a:r>
              <a:rPr lang="en-US" sz="1350" b="1" spc="200" kern="0" dirty="0">
                <a:solidFill>
                  <a:srgbClr val="E07B1C"/>
                </a:solidFill>
                <a:latin typeface="Calibri" pitchFamily="34" charset="0"/>
                <a:ea typeface="Calibri" pitchFamily="34" charset="-122"/>
                <a:cs typeface="Calibri" pitchFamily="34" charset="-120"/>
              </a:rPr>
              <a:t>WORLD HEALTH ORGANIZATION  •  CAPSTONE PROJECT</a:t>
            </a:r>
            <a:endParaRPr lang="en-US" sz="1350" dirty="0"/>
          </a:p>
        </p:txBody>
      </p:sp>
      <p:sp>
        <p:nvSpPr>
          <p:cNvPr id="4" name="Text 2"/>
          <p:cNvSpPr/>
          <p:nvPr/>
        </p:nvSpPr>
        <p:spPr>
          <a:xfrm>
            <a:off x="914400" y="1783080"/>
            <a:ext cx="10607040" cy="228600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Georgia" pitchFamily="34" charset="0"/>
                <a:ea typeface="Georgia" pitchFamily="34" charset="-122"/>
                <a:cs typeface="Georgia" pitchFamily="34" charset="-120"/>
              </a:rPr>
              <a:t>Global HIV Trends
</a:t>
            </a:r>
            <a:pPr indent="0" marL="0">
              <a:lnSpc>
                <a:spcPts val="4800"/>
              </a:lnSpc>
              <a:buNone/>
            </a:pPr>
            <a:r>
              <a:rPr lang="en-US" sz="4400" b="1" dirty="0">
                <a:solidFill>
                  <a:srgbClr val="E07B1C"/>
                </a:solidFill>
                <a:latin typeface="Georgia" pitchFamily="34" charset="0"/>
                <a:ea typeface="Georgia" pitchFamily="34" charset="-122"/>
                <a:cs typeface="Georgia" pitchFamily="34" charset="-120"/>
              </a:rPr>
              <a:t>&amp; Treatment Effectiveness Analysis</a:t>
            </a:r>
            <a:endParaRPr lang="en-US" sz="4400" dirty="0"/>
          </a:p>
        </p:txBody>
      </p:sp>
      <p:sp>
        <p:nvSpPr>
          <p:cNvPr id="5" name="Text 3"/>
          <p:cNvSpPr/>
          <p:nvPr/>
        </p:nvSpPr>
        <p:spPr>
          <a:xfrm>
            <a:off x="914400" y="4160520"/>
            <a:ext cx="10058400" cy="457200"/>
          </a:xfrm>
          <a:prstGeom prst="rect">
            <a:avLst/>
          </a:prstGeom>
          <a:noFill/>
          <a:ln/>
        </p:spPr>
        <p:txBody>
          <a:bodyPr wrap="square" lIns="0" tIns="0" rIns="0" bIns="0" rtlCol="0" anchor="ctr"/>
          <a:lstStyle/>
          <a:p>
            <a:pPr indent="0" marL="0">
              <a:buNone/>
            </a:pPr>
            <a:r>
              <a:rPr lang="en-US" sz="1900" i="1" dirty="0">
                <a:solidFill>
                  <a:srgbClr val="CBD6E2"/>
                </a:solidFill>
                <a:latin typeface="Calibri" pitchFamily="34" charset="0"/>
                <a:ea typeface="Calibri" pitchFamily="34" charset="-122"/>
                <a:cs typeface="Calibri" pitchFamily="34" charset="-120"/>
              </a:rPr>
              <a:t>A holistic, data-driven view of the global HIV landscape, 2000–2024</a:t>
            </a:r>
            <a:endParaRPr lang="en-US" sz="1900" dirty="0"/>
          </a:p>
        </p:txBody>
      </p:sp>
      <p:sp>
        <p:nvSpPr>
          <p:cNvPr id="6" name="Shape 4"/>
          <p:cNvSpPr/>
          <p:nvPr/>
        </p:nvSpPr>
        <p:spPr>
          <a:xfrm>
            <a:off x="914400" y="4892040"/>
            <a:ext cx="3657600" cy="0"/>
          </a:xfrm>
          <a:prstGeom prst="line">
            <a:avLst/>
          </a:prstGeom>
          <a:noFill/>
          <a:ln w="25400">
            <a:solidFill>
              <a:srgbClr val="E07B1C"/>
            </a:solidFill>
            <a:prstDash val="solid"/>
          </a:ln>
        </p:spPr>
      </p:sp>
      <p:sp>
        <p:nvSpPr>
          <p:cNvPr id="7" name="Text 5"/>
          <p:cNvSpPr/>
          <p:nvPr/>
        </p:nvSpPr>
        <p:spPr>
          <a:xfrm>
            <a:off x="914400" y="5074920"/>
            <a:ext cx="10515600" cy="365760"/>
          </a:xfrm>
          <a:prstGeom prst="rect">
            <a:avLst/>
          </a:prstGeom>
          <a:noFill/>
          <a:ln/>
        </p:spPr>
        <p:txBody>
          <a:bodyPr wrap="square" lIns="0" tIns="0" rIns="0" bIns="0" rtlCol="0" anchor="ctr"/>
          <a:lstStyle/>
          <a:p>
            <a:pPr indent="0" marL="0">
              <a:buNone/>
            </a:pPr>
            <a:r>
              <a:rPr lang="en-US" sz="1350" b="1" dirty="0">
                <a:solidFill>
                  <a:srgbClr val="9FB0C0"/>
                </a:solidFill>
                <a:latin typeface="Calibri" pitchFamily="34" charset="0"/>
                <a:ea typeface="Calibri" pitchFamily="34" charset="-122"/>
                <a:cs typeface="Calibri" pitchFamily="34" charset="-120"/>
              </a:rPr>
              <a:t>Specialization: Healthcare    |    Business Focus: Public Health Analysis    |    Tool: Power BI</a:t>
            </a:r>
            <a:endParaRPr lang="en-US" sz="1350" dirty="0"/>
          </a:p>
        </p:txBody>
      </p:sp>
      <p:sp>
        <p:nvSpPr>
          <p:cNvPr id="8" name="Text 6"/>
          <p:cNvSpPr/>
          <p:nvPr/>
        </p:nvSpPr>
        <p:spPr>
          <a:xfrm>
            <a:off x="914400" y="5440680"/>
            <a:ext cx="10058400" cy="365760"/>
          </a:xfrm>
          <a:prstGeom prst="rect">
            <a:avLst/>
          </a:prstGeom>
          <a:noFill/>
          <a:ln/>
        </p:spPr>
        <p:txBody>
          <a:bodyPr wrap="square" lIns="0" tIns="0" rIns="0" bIns="0" rtlCol="0" anchor="ctr"/>
          <a:lstStyle/>
          <a:p>
            <a:pPr indent="0" marL="0">
              <a:buNone/>
            </a:pPr>
            <a:r>
              <a:rPr lang="en-US" sz="1300" dirty="0">
                <a:solidFill>
                  <a:srgbClr val="9FB0C0"/>
                </a:solidFill>
                <a:latin typeface="Calibri" pitchFamily="34" charset="0"/>
                <a:ea typeface="Calibri" pitchFamily="34" charset="-122"/>
                <a:cs typeface="Calibri" pitchFamily="34" charset="-120"/>
              </a:rPr>
              <a:t>Data source: WHO  •  150 countries  •  6 WHO regions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Project Overview</a:t>
            </a:r>
            <a:endParaRPr lang="en-US" sz="2700" dirty="0"/>
          </a:p>
        </p:txBody>
      </p:sp>
      <p:sp>
        <p:nvSpPr>
          <p:cNvPr id="4" name="Text 2"/>
          <p:cNvSpPr/>
          <p:nvPr/>
        </p:nvSpPr>
        <p:spPr>
          <a:xfrm>
            <a:off x="822960" y="1554480"/>
            <a:ext cx="6583680" cy="1463040"/>
          </a:xfrm>
          <a:prstGeom prst="rect">
            <a:avLst/>
          </a:prstGeom>
          <a:noFill/>
          <a:ln/>
        </p:spPr>
        <p:txBody>
          <a:bodyPr wrap="square" lIns="0" tIns="0" rIns="0" bIns="0" rtlCol="0" anchor="t"/>
          <a:lstStyle/>
          <a:p>
            <a:pPr indent="0" marL="0">
              <a:lnSpc>
                <a:spcPts val="2400"/>
              </a:lnSpc>
              <a:buNone/>
            </a:pPr>
            <a:r>
              <a:rPr lang="en-US" sz="1650" dirty="0">
                <a:solidFill>
                  <a:srgbClr val="1B2733"/>
                </a:solidFill>
                <a:latin typeface="Calibri" pitchFamily="34" charset="0"/>
                <a:ea typeface="Calibri" pitchFamily="34" charset="-122"/>
                <a:cs typeface="Calibri" pitchFamily="34" charset="-120"/>
              </a:rPr>
              <a:t>Over three decades, the WHO and partners have transformed HIV </a:t>
            </a:r>
            <a:pPr indent="0" marL="0">
              <a:lnSpc>
                <a:spcPts val="2400"/>
              </a:lnSpc>
              <a:buNone/>
            </a:pPr>
            <a:r>
              <a:rPr lang="en-US" sz="1650" b="1" dirty="0">
                <a:solidFill>
                  <a:srgbClr val="1F3A5F"/>
                </a:solidFill>
                <a:latin typeface="Calibri" pitchFamily="34" charset="0"/>
                <a:ea typeface="Calibri" pitchFamily="34" charset="-122"/>
                <a:cs typeface="Calibri" pitchFamily="34" charset="-120"/>
              </a:rPr>
              <a:t>from a fatal disease into a manageable chronic condition</a:t>
            </a:r>
            <a:pPr indent="0" marL="0">
              <a:lnSpc>
                <a:spcPts val="2400"/>
              </a:lnSpc>
              <a:buNone/>
            </a:pPr>
            <a:r>
              <a:rPr lang="en-US" sz="1650" dirty="0">
                <a:solidFill>
                  <a:srgbClr val="1B2733"/>
                </a:solidFill>
                <a:latin typeface="Calibri" pitchFamily="34" charset="0"/>
                <a:ea typeface="Calibri" pitchFamily="34" charset="-122"/>
                <a:cs typeface="Calibri" pitchFamily="34" charset="-120"/>
              </a:rPr>
              <a:t> through prevention programmes, awareness campaigns and the rollout of Antiretroviral Therapy (ART).</a:t>
            </a:r>
            <a:endParaRPr lang="en-US" sz="1650" dirty="0"/>
          </a:p>
        </p:txBody>
      </p:sp>
      <p:sp>
        <p:nvSpPr>
          <p:cNvPr id="5" name="Text 3"/>
          <p:cNvSpPr/>
          <p:nvPr/>
        </p:nvSpPr>
        <p:spPr>
          <a:xfrm>
            <a:off x="822960" y="3108960"/>
            <a:ext cx="6583680" cy="1463040"/>
          </a:xfrm>
          <a:prstGeom prst="rect">
            <a:avLst/>
          </a:prstGeom>
          <a:noFill/>
          <a:ln/>
        </p:spPr>
        <p:txBody>
          <a:bodyPr wrap="square" lIns="0" tIns="0" rIns="0" bIns="0" rtlCol="0" anchor="t"/>
          <a:lstStyle/>
          <a:p>
            <a:pPr indent="0" marL="0">
              <a:lnSpc>
                <a:spcPts val="2200"/>
              </a:lnSpc>
              <a:buNone/>
            </a:pPr>
            <a:r>
              <a:rPr lang="en-US" sz="1500" dirty="0">
                <a:solidFill>
                  <a:srgbClr val="1B2733"/>
                </a:solidFill>
                <a:latin typeface="Calibri" pitchFamily="34" charset="0"/>
                <a:ea typeface="Calibri" pitchFamily="34" charset="-122"/>
                <a:cs typeface="Calibri" pitchFamily="34" charset="-120"/>
              </a:rPr>
              <a:t>Despite this progress, HIV remains a major public-health concern — especially where healthcare infrastructure is limited — and questions persist about the true effectiveness and sustainability of current interventions.</a:t>
            </a:r>
            <a:endParaRPr lang="en-US" sz="1500" dirty="0"/>
          </a:p>
        </p:txBody>
      </p:sp>
      <p:sp>
        <p:nvSpPr>
          <p:cNvPr id="6" name="Shape 4"/>
          <p:cNvSpPr/>
          <p:nvPr/>
        </p:nvSpPr>
        <p:spPr>
          <a:xfrm>
            <a:off x="7772400" y="1554480"/>
            <a:ext cx="3840480" cy="4206240"/>
          </a:xfrm>
          <a:prstGeom prst="rect">
            <a:avLst/>
          </a:prstGeom>
          <a:solidFill>
            <a:srgbClr val="1F3A5F"/>
          </a:solidFill>
          <a:ln/>
        </p:spPr>
      </p:sp>
      <p:sp>
        <p:nvSpPr>
          <p:cNvPr id="7" name="Shape 5"/>
          <p:cNvSpPr/>
          <p:nvPr/>
        </p:nvSpPr>
        <p:spPr>
          <a:xfrm>
            <a:off x="7772400" y="1554480"/>
            <a:ext cx="3840480" cy="91440"/>
          </a:xfrm>
          <a:prstGeom prst="rect">
            <a:avLst/>
          </a:prstGeom>
          <a:solidFill>
            <a:srgbClr val="E07B1C"/>
          </a:solidFill>
          <a:ln/>
        </p:spPr>
      </p:sp>
      <p:sp>
        <p:nvSpPr>
          <p:cNvPr id="8" name="Text 6"/>
          <p:cNvSpPr/>
          <p:nvPr/>
        </p:nvSpPr>
        <p:spPr>
          <a:xfrm>
            <a:off x="8046720" y="1828800"/>
            <a:ext cx="3291840" cy="457200"/>
          </a:xfrm>
          <a:prstGeom prst="rect">
            <a:avLst/>
          </a:prstGeom>
          <a:noFill/>
          <a:ln/>
        </p:spPr>
        <p:txBody>
          <a:bodyPr wrap="square" lIns="0" tIns="0" rIns="0" bIns="0" rtlCol="0" anchor="ctr"/>
          <a:lstStyle/>
          <a:p>
            <a:pPr indent="0" marL="0">
              <a:buNone/>
            </a:pPr>
            <a:r>
              <a:rPr lang="en-US" sz="1800" b="1" dirty="0">
                <a:solidFill>
                  <a:srgbClr val="FFD9B3"/>
                </a:solidFill>
                <a:latin typeface="Georgia" pitchFamily="34" charset="0"/>
                <a:ea typeface="Georgia" pitchFamily="34" charset="-122"/>
                <a:cs typeface="Georgia" pitchFamily="34" charset="-120"/>
              </a:rPr>
              <a:t>This project evaluates:</a:t>
            </a:r>
            <a:endParaRPr lang="en-US" sz="1800" dirty="0"/>
          </a:p>
        </p:txBody>
      </p:sp>
      <p:sp>
        <p:nvSpPr>
          <p:cNvPr id="9" name="Text 7"/>
          <p:cNvSpPr/>
          <p:nvPr/>
        </p:nvSpPr>
        <p:spPr>
          <a:xfrm>
            <a:off x="8046720" y="2423160"/>
            <a:ext cx="548640" cy="548640"/>
          </a:xfrm>
          <a:prstGeom prst="rect">
            <a:avLst/>
          </a:prstGeom>
          <a:noFill/>
          <a:ln/>
        </p:spPr>
        <p:txBody>
          <a:bodyPr wrap="square" lIns="0" tIns="0" rIns="0" bIns="0" rtlCol="0" anchor="ctr"/>
          <a:lstStyle/>
          <a:p>
            <a:pPr indent="0" marL="0">
              <a:buNone/>
            </a:pPr>
            <a:r>
              <a:rPr lang="en-US" sz="3000" b="1" dirty="0">
                <a:solidFill>
                  <a:srgbClr val="E07B1C"/>
                </a:solidFill>
                <a:latin typeface="Georgia" pitchFamily="34" charset="0"/>
                <a:ea typeface="Georgia" pitchFamily="34" charset="-122"/>
                <a:cs typeface="Georgia" pitchFamily="34" charset="-120"/>
              </a:rPr>
              <a:t>1</a:t>
            </a:r>
            <a:endParaRPr lang="en-US" sz="3000" dirty="0"/>
          </a:p>
        </p:txBody>
      </p:sp>
      <p:sp>
        <p:nvSpPr>
          <p:cNvPr id="10" name="Text 8"/>
          <p:cNvSpPr/>
          <p:nvPr/>
        </p:nvSpPr>
        <p:spPr>
          <a:xfrm>
            <a:off x="8641080" y="2441448"/>
            <a:ext cx="2743200" cy="914400"/>
          </a:xfrm>
          <a:prstGeom prst="rect">
            <a:avLst/>
          </a:prstGeom>
          <a:noFill/>
          <a:ln/>
        </p:spPr>
        <p:txBody>
          <a:bodyPr wrap="square" lIns="0" tIns="0" rIns="0" bIns="0" rtlCol="0" anchor="t"/>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Whether HIV infections are truly declining</a:t>
            </a:r>
            <a:endParaRPr lang="en-US" sz="1350" dirty="0"/>
          </a:p>
        </p:txBody>
      </p:sp>
      <p:sp>
        <p:nvSpPr>
          <p:cNvPr id="11" name="Text 9"/>
          <p:cNvSpPr/>
          <p:nvPr/>
        </p:nvSpPr>
        <p:spPr>
          <a:xfrm>
            <a:off x="8046720" y="3474720"/>
            <a:ext cx="548640" cy="548640"/>
          </a:xfrm>
          <a:prstGeom prst="rect">
            <a:avLst/>
          </a:prstGeom>
          <a:noFill/>
          <a:ln/>
        </p:spPr>
        <p:txBody>
          <a:bodyPr wrap="square" lIns="0" tIns="0" rIns="0" bIns="0" rtlCol="0" anchor="ctr"/>
          <a:lstStyle/>
          <a:p>
            <a:pPr indent="0" marL="0">
              <a:buNone/>
            </a:pPr>
            <a:r>
              <a:rPr lang="en-US" sz="3000" b="1" dirty="0">
                <a:solidFill>
                  <a:srgbClr val="E07B1C"/>
                </a:solidFill>
                <a:latin typeface="Georgia" pitchFamily="34" charset="0"/>
                <a:ea typeface="Georgia" pitchFamily="34" charset="-122"/>
                <a:cs typeface="Georgia" pitchFamily="34" charset="-120"/>
              </a:rPr>
              <a:t>2</a:t>
            </a:r>
            <a:endParaRPr lang="en-US" sz="3000" dirty="0"/>
          </a:p>
        </p:txBody>
      </p:sp>
      <p:sp>
        <p:nvSpPr>
          <p:cNvPr id="12" name="Text 10"/>
          <p:cNvSpPr/>
          <p:nvPr/>
        </p:nvSpPr>
        <p:spPr>
          <a:xfrm>
            <a:off x="8641080" y="3493008"/>
            <a:ext cx="2743200" cy="914400"/>
          </a:xfrm>
          <a:prstGeom prst="rect">
            <a:avLst/>
          </a:prstGeom>
          <a:noFill/>
          <a:ln/>
        </p:spPr>
        <p:txBody>
          <a:bodyPr wrap="square" lIns="0" tIns="0" rIns="0" bIns="0" rtlCol="0" anchor="t"/>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Whether increased treatment access is reducing mortality</a:t>
            </a:r>
            <a:endParaRPr lang="en-US" sz="1350" dirty="0"/>
          </a:p>
        </p:txBody>
      </p:sp>
      <p:sp>
        <p:nvSpPr>
          <p:cNvPr id="13" name="Text 11"/>
          <p:cNvSpPr/>
          <p:nvPr/>
        </p:nvSpPr>
        <p:spPr>
          <a:xfrm>
            <a:off x="8046720" y="4526280"/>
            <a:ext cx="548640" cy="548640"/>
          </a:xfrm>
          <a:prstGeom prst="rect">
            <a:avLst/>
          </a:prstGeom>
          <a:noFill/>
          <a:ln/>
        </p:spPr>
        <p:txBody>
          <a:bodyPr wrap="square" lIns="0" tIns="0" rIns="0" bIns="0" rtlCol="0" anchor="ctr"/>
          <a:lstStyle/>
          <a:p>
            <a:pPr indent="0" marL="0">
              <a:buNone/>
            </a:pPr>
            <a:r>
              <a:rPr lang="en-US" sz="3000" b="1" dirty="0">
                <a:solidFill>
                  <a:srgbClr val="E07B1C"/>
                </a:solidFill>
                <a:latin typeface="Georgia" pitchFamily="34" charset="0"/>
                <a:ea typeface="Georgia" pitchFamily="34" charset="-122"/>
                <a:cs typeface="Georgia" pitchFamily="34" charset="-120"/>
              </a:rPr>
              <a:t>3</a:t>
            </a:r>
            <a:endParaRPr lang="en-US" sz="3000" dirty="0"/>
          </a:p>
        </p:txBody>
      </p:sp>
      <p:sp>
        <p:nvSpPr>
          <p:cNvPr id="14" name="Text 12"/>
          <p:cNvSpPr/>
          <p:nvPr/>
        </p:nvSpPr>
        <p:spPr>
          <a:xfrm>
            <a:off x="8641080" y="4544568"/>
            <a:ext cx="2743200" cy="914400"/>
          </a:xfrm>
          <a:prstGeom prst="rect">
            <a:avLst/>
          </a:prstGeom>
          <a:noFill/>
          <a:ln/>
        </p:spPr>
        <p:txBody>
          <a:bodyPr wrap="square" lIns="0" tIns="0" rIns="0" bIns="0" rtlCol="0" anchor="t"/>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How the overall burden of HIV is evolving globally</a:t>
            </a:r>
            <a:endParaRPr lang="en-US" sz="1350" dirty="0"/>
          </a:p>
        </p:txBody>
      </p:sp>
      <p:sp>
        <p:nvSpPr>
          <p:cNvPr id="15" name="Text 13"/>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Problem Statement &amp; Objectives</a:t>
            </a:r>
            <a:endParaRPr lang="en-US" sz="2700" dirty="0"/>
          </a:p>
        </p:txBody>
      </p:sp>
      <p:sp>
        <p:nvSpPr>
          <p:cNvPr id="4" name="Shape 2"/>
          <p:cNvSpPr/>
          <p:nvPr/>
        </p:nvSpPr>
        <p:spPr>
          <a:xfrm>
            <a:off x="548640" y="1463040"/>
            <a:ext cx="5486400" cy="4480560"/>
          </a:xfrm>
          <a:prstGeom prst="rect">
            <a:avLst/>
          </a:prstGeom>
          <a:solidFill>
            <a:srgbClr val="FFFFFF"/>
          </a:solidFill>
          <a:ln w="12700">
            <a:solidFill>
              <a:srgbClr val="E0E6EC"/>
            </a:solidFill>
            <a:prstDash val="solid"/>
          </a:ln>
        </p:spPr>
      </p:sp>
      <p:sp>
        <p:nvSpPr>
          <p:cNvPr id="5" name="Shape 3"/>
          <p:cNvSpPr/>
          <p:nvPr/>
        </p:nvSpPr>
        <p:spPr>
          <a:xfrm>
            <a:off x="548640" y="1463040"/>
            <a:ext cx="109728" cy="4480560"/>
          </a:xfrm>
          <a:prstGeom prst="rect">
            <a:avLst/>
          </a:prstGeom>
          <a:solidFill>
            <a:srgbClr val="C0392B"/>
          </a:solidFill>
          <a:ln/>
        </p:spPr>
      </p:sp>
      <p:sp>
        <p:nvSpPr>
          <p:cNvPr id="6" name="Text 4"/>
          <p:cNvSpPr/>
          <p:nvPr/>
        </p:nvSpPr>
        <p:spPr>
          <a:xfrm>
            <a:off x="868680" y="1691640"/>
            <a:ext cx="4937760" cy="457200"/>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The Problem</a:t>
            </a:r>
            <a:endParaRPr lang="en-US" sz="2000" dirty="0"/>
          </a:p>
        </p:txBody>
      </p:sp>
      <p:sp>
        <p:nvSpPr>
          <p:cNvPr id="7" name="Text 5"/>
          <p:cNvSpPr/>
          <p:nvPr/>
        </p:nvSpPr>
        <p:spPr>
          <a:xfrm>
            <a:off x="868680" y="2240280"/>
            <a:ext cx="4937760" cy="731520"/>
          </a:xfrm>
          <a:prstGeom prst="rect">
            <a:avLst/>
          </a:prstGeom>
          <a:noFill/>
          <a:ln/>
        </p:spPr>
        <p:txBody>
          <a:bodyPr wrap="square" lIns="0" tIns="0" rIns="0" bIns="0" rtlCol="0" anchor="ctr"/>
          <a:lstStyle/>
          <a:p>
            <a:pPr indent="0" marL="0">
              <a:lnSpc>
                <a:spcPts val="2000"/>
              </a:lnSpc>
              <a:buNone/>
            </a:pPr>
            <a:r>
              <a:rPr lang="en-US" sz="1450" dirty="0">
                <a:solidFill>
                  <a:srgbClr val="1B2733"/>
                </a:solidFill>
                <a:latin typeface="Calibri" pitchFamily="34" charset="0"/>
                <a:ea typeface="Calibri" pitchFamily="34" charset="-122"/>
                <a:cs typeface="Calibri" pitchFamily="34" charset="-120"/>
              </a:rPr>
              <a:t>Despite available HIV data, stakeholders lack a unified analytical framework to:</a:t>
            </a:r>
            <a:endParaRPr lang="en-US" sz="1450" dirty="0"/>
          </a:p>
        </p:txBody>
      </p:sp>
      <p:sp>
        <p:nvSpPr>
          <p:cNvPr id="8" name="Text 6"/>
          <p:cNvSpPr/>
          <p:nvPr/>
        </p:nvSpPr>
        <p:spPr>
          <a:xfrm>
            <a:off x="960120" y="3017520"/>
            <a:ext cx="4846320" cy="548640"/>
          </a:xfrm>
          <a:prstGeom prst="rect">
            <a:avLst/>
          </a:prstGeom>
          <a:noFill/>
          <a:ln/>
        </p:spPr>
        <p:txBody>
          <a:bodyPr wrap="square" lIns="0" tIns="0" rIns="0" bIns="0" rtlCol="0" anchor="t"/>
          <a:lstStyle/>
          <a:p>
            <a:pPr indent="0" marL="0">
              <a:buNone/>
            </a:pPr>
            <a:r>
              <a:rPr lang="en-US" sz="1350" b="1" dirty="0">
                <a:solidFill>
                  <a:srgbClr val="C0392B"/>
                </a:solidFill>
                <a:latin typeface="Calibri" pitchFamily="34" charset="0"/>
                <a:ea typeface="Calibri" pitchFamily="34" charset="-122"/>
                <a:cs typeface="Calibri" pitchFamily="34" charset="-120"/>
              </a:rPr>
              <a:t>•  </a:t>
            </a:r>
            <a:pPr indent="0" marL="0">
              <a:buNone/>
            </a:pPr>
            <a:r>
              <a:rPr lang="en-US" sz="1350" dirty="0">
                <a:solidFill>
                  <a:srgbClr val="1B2733"/>
                </a:solidFill>
                <a:latin typeface="Calibri" pitchFamily="34" charset="0"/>
                <a:ea typeface="Calibri" pitchFamily="34" charset="-122"/>
                <a:cs typeface="Calibri" pitchFamily="34" charset="-120"/>
              </a:rPr>
              <a:t>Evaluate the effectiveness of treatment programmes</a:t>
            </a:r>
            <a:endParaRPr lang="en-US" sz="1350" dirty="0"/>
          </a:p>
        </p:txBody>
      </p:sp>
      <p:sp>
        <p:nvSpPr>
          <p:cNvPr id="9" name="Text 7"/>
          <p:cNvSpPr/>
          <p:nvPr/>
        </p:nvSpPr>
        <p:spPr>
          <a:xfrm>
            <a:off x="960120" y="3584448"/>
            <a:ext cx="4846320" cy="548640"/>
          </a:xfrm>
          <a:prstGeom prst="rect">
            <a:avLst/>
          </a:prstGeom>
          <a:noFill/>
          <a:ln/>
        </p:spPr>
        <p:txBody>
          <a:bodyPr wrap="square" lIns="0" tIns="0" rIns="0" bIns="0" rtlCol="0" anchor="t"/>
          <a:lstStyle/>
          <a:p>
            <a:pPr indent="0" marL="0">
              <a:buNone/>
            </a:pPr>
            <a:r>
              <a:rPr lang="en-US" sz="1350" b="1" dirty="0">
                <a:solidFill>
                  <a:srgbClr val="C0392B"/>
                </a:solidFill>
                <a:latin typeface="Calibri" pitchFamily="34" charset="0"/>
                <a:ea typeface="Calibri" pitchFamily="34" charset="-122"/>
                <a:cs typeface="Calibri" pitchFamily="34" charset="-120"/>
              </a:rPr>
              <a:t>•  </a:t>
            </a:r>
            <a:pPr indent="0" marL="0">
              <a:buNone/>
            </a:pPr>
            <a:r>
              <a:rPr lang="en-US" sz="1350" dirty="0">
                <a:solidFill>
                  <a:srgbClr val="1B2733"/>
                </a:solidFill>
                <a:latin typeface="Calibri" pitchFamily="34" charset="0"/>
                <a:ea typeface="Calibri" pitchFamily="34" charset="-122"/>
                <a:cs typeface="Calibri" pitchFamily="34" charset="-120"/>
              </a:rPr>
              <a:t>Understand the link between infections, deaths and treatment</a:t>
            </a:r>
            <a:endParaRPr lang="en-US" sz="1350" dirty="0"/>
          </a:p>
        </p:txBody>
      </p:sp>
      <p:sp>
        <p:nvSpPr>
          <p:cNvPr id="10" name="Text 8"/>
          <p:cNvSpPr/>
          <p:nvPr/>
        </p:nvSpPr>
        <p:spPr>
          <a:xfrm>
            <a:off x="960120" y="4151376"/>
            <a:ext cx="4846320" cy="548640"/>
          </a:xfrm>
          <a:prstGeom prst="rect">
            <a:avLst/>
          </a:prstGeom>
          <a:noFill/>
          <a:ln/>
        </p:spPr>
        <p:txBody>
          <a:bodyPr wrap="square" lIns="0" tIns="0" rIns="0" bIns="0" rtlCol="0" anchor="t"/>
          <a:lstStyle/>
          <a:p>
            <a:pPr indent="0" marL="0">
              <a:buNone/>
            </a:pPr>
            <a:r>
              <a:rPr lang="en-US" sz="1350" b="1" dirty="0">
                <a:solidFill>
                  <a:srgbClr val="C0392B"/>
                </a:solidFill>
                <a:latin typeface="Calibri" pitchFamily="34" charset="0"/>
                <a:ea typeface="Calibri" pitchFamily="34" charset="-122"/>
                <a:cs typeface="Calibri" pitchFamily="34" charset="-120"/>
              </a:rPr>
              <a:t>•  </a:t>
            </a:r>
            <a:pPr indent="0" marL="0">
              <a:buNone/>
            </a:pPr>
            <a:r>
              <a:rPr lang="en-US" sz="1350" dirty="0">
                <a:solidFill>
                  <a:srgbClr val="1B2733"/>
                </a:solidFill>
                <a:latin typeface="Calibri" pitchFamily="34" charset="0"/>
                <a:ea typeface="Calibri" pitchFamily="34" charset="-122"/>
                <a:cs typeface="Calibri" pitchFamily="34" charset="-120"/>
              </a:rPr>
              <a:t>Identify regions requiring urgent intervention</a:t>
            </a:r>
            <a:endParaRPr lang="en-US" sz="1350" dirty="0"/>
          </a:p>
        </p:txBody>
      </p:sp>
      <p:sp>
        <p:nvSpPr>
          <p:cNvPr id="11" name="Text 9"/>
          <p:cNvSpPr/>
          <p:nvPr/>
        </p:nvSpPr>
        <p:spPr>
          <a:xfrm>
            <a:off x="868680" y="4892040"/>
            <a:ext cx="4937760" cy="5486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This limits strategic planning and resource allocation.</a:t>
            </a:r>
            <a:endParaRPr lang="en-US" sz="1350" dirty="0"/>
          </a:p>
        </p:txBody>
      </p:sp>
      <p:sp>
        <p:nvSpPr>
          <p:cNvPr id="12" name="Shape 10"/>
          <p:cNvSpPr/>
          <p:nvPr/>
        </p:nvSpPr>
        <p:spPr>
          <a:xfrm>
            <a:off x="6400800" y="1463040"/>
            <a:ext cx="5212080" cy="4480560"/>
          </a:xfrm>
          <a:prstGeom prst="rect">
            <a:avLst/>
          </a:prstGeom>
          <a:solidFill>
            <a:srgbClr val="1F3A5F"/>
          </a:solidFill>
          <a:ln/>
        </p:spPr>
      </p:sp>
      <p:sp>
        <p:nvSpPr>
          <p:cNvPr id="13" name="Shape 11"/>
          <p:cNvSpPr/>
          <p:nvPr/>
        </p:nvSpPr>
        <p:spPr>
          <a:xfrm>
            <a:off x="6400800" y="1463040"/>
            <a:ext cx="109728" cy="4480560"/>
          </a:xfrm>
          <a:prstGeom prst="rect">
            <a:avLst/>
          </a:prstGeom>
          <a:solidFill>
            <a:srgbClr val="E07B1C"/>
          </a:solidFill>
          <a:ln/>
        </p:spPr>
      </p:sp>
      <p:sp>
        <p:nvSpPr>
          <p:cNvPr id="14" name="Text 12"/>
          <p:cNvSpPr/>
          <p:nvPr/>
        </p:nvSpPr>
        <p:spPr>
          <a:xfrm>
            <a:off x="6720840" y="1691640"/>
            <a:ext cx="4663440" cy="457200"/>
          </a:xfrm>
          <a:prstGeom prst="rect">
            <a:avLst/>
          </a:prstGeom>
          <a:noFill/>
          <a:ln/>
        </p:spPr>
        <p:txBody>
          <a:bodyPr wrap="square" lIns="0" tIns="0" rIns="0" bIns="0" rtlCol="0" anchor="ctr"/>
          <a:lstStyle/>
          <a:p>
            <a:pPr indent="0" marL="0">
              <a:buNone/>
            </a:pPr>
            <a:r>
              <a:rPr lang="en-US" sz="2000" b="1" dirty="0">
                <a:solidFill>
                  <a:srgbClr val="FFD9B3"/>
                </a:solidFill>
                <a:latin typeface="Georgia" pitchFamily="34" charset="0"/>
                <a:ea typeface="Georgia" pitchFamily="34" charset="-122"/>
                <a:cs typeface="Georgia" pitchFamily="34" charset="-120"/>
              </a:rPr>
              <a:t>The Objectives</a:t>
            </a:r>
            <a:endParaRPr lang="en-US" sz="2000" dirty="0"/>
          </a:p>
        </p:txBody>
      </p:sp>
      <p:sp>
        <p:nvSpPr>
          <p:cNvPr id="15" name="Text 13"/>
          <p:cNvSpPr/>
          <p:nvPr/>
        </p:nvSpPr>
        <p:spPr>
          <a:xfrm>
            <a:off x="6720840" y="22860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Disease monitoring</a:t>
            </a:r>
            <a:endParaRPr lang="en-US" sz="1600" dirty="0"/>
          </a:p>
        </p:txBody>
      </p:sp>
      <p:sp>
        <p:nvSpPr>
          <p:cNvPr id="16" name="Text 14"/>
          <p:cNvSpPr/>
          <p:nvPr/>
        </p:nvSpPr>
        <p:spPr>
          <a:xfrm>
            <a:off x="6720840" y="2670048"/>
            <a:ext cx="4572000" cy="457200"/>
          </a:xfrm>
          <a:prstGeom prst="rect">
            <a:avLst/>
          </a:prstGeom>
          <a:noFill/>
          <a:ln/>
        </p:spPr>
        <p:txBody>
          <a:bodyPr wrap="square" lIns="0" tIns="0" rIns="0" bIns="0" rtlCol="0" anchor="ctr"/>
          <a:lstStyle/>
          <a:p>
            <a:pPr indent="0" marL="0">
              <a:buNone/>
            </a:pPr>
            <a:r>
              <a:rPr lang="en-US" sz="1300" dirty="0">
                <a:solidFill>
                  <a:srgbClr val="CBD6E2"/>
                </a:solidFill>
                <a:latin typeface="Calibri" pitchFamily="34" charset="0"/>
                <a:ea typeface="Calibri" pitchFamily="34" charset="-122"/>
                <a:cs typeface="Calibri" pitchFamily="34" charset="-120"/>
              </a:rPr>
              <a:t>Track the global spread of HIV over time</a:t>
            </a:r>
            <a:endParaRPr lang="en-US" sz="1300" dirty="0"/>
          </a:p>
        </p:txBody>
      </p:sp>
      <p:sp>
        <p:nvSpPr>
          <p:cNvPr id="17" name="Text 15"/>
          <p:cNvSpPr/>
          <p:nvPr/>
        </p:nvSpPr>
        <p:spPr>
          <a:xfrm>
            <a:off x="6720840" y="34290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Evaluate treatment impact</a:t>
            </a:r>
            <a:endParaRPr lang="en-US" sz="1600" dirty="0"/>
          </a:p>
        </p:txBody>
      </p:sp>
      <p:sp>
        <p:nvSpPr>
          <p:cNvPr id="18" name="Text 16"/>
          <p:cNvSpPr/>
          <p:nvPr/>
        </p:nvSpPr>
        <p:spPr>
          <a:xfrm>
            <a:off x="6720840" y="3813048"/>
            <a:ext cx="4572000" cy="457200"/>
          </a:xfrm>
          <a:prstGeom prst="rect">
            <a:avLst/>
          </a:prstGeom>
          <a:noFill/>
          <a:ln/>
        </p:spPr>
        <p:txBody>
          <a:bodyPr wrap="square" lIns="0" tIns="0" rIns="0" bIns="0" rtlCol="0" anchor="ctr"/>
          <a:lstStyle/>
          <a:p>
            <a:pPr indent="0" marL="0">
              <a:buNone/>
            </a:pPr>
            <a:r>
              <a:rPr lang="en-US" sz="1300" dirty="0">
                <a:solidFill>
                  <a:srgbClr val="CBD6E2"/>
                </a:solidFill>
                <a:latin typeface="Calibri" pitchFamily="34" charset="0"/>
                <a:ea typeface="Calibri" pitchFamily="34" charset="-122"/>
                <a:cs typeface="Calibri" pitchFamily="34" charset="-120"/>
              </a:rPr>
              <a:t>Assess how ART coverage affects mortality</a:t>
            </a:r>
            <a:endParaRPr lang="en-US" sz="1300" dirty="0"/>
          </a:p>
        </p:txBody>
      </p:sp>
      <p:sp>
        <p:nvSpPr>
          <p:cNvPr id="19" name="Text 17"/>
          <p:cNvSpPr/>
          <p:nvPr/>
        </p:nvSpPr>
        <p:spPr>
          <a:xfrm>
            <a:off x="6720840" y="4572000"/>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Support strategic decisions</a:t>
            </a:r>
            <a:endParaRPr lang="en-US" sz="1600" dirty="0"/>
          </a:p>
        </p:txBody>
      </p:sp>
      <p:sp>
        <p:nvSpPr>
          <p:cNvPr id="20" name="Text 18"/>
          <p:cNvSpPr/>
          <p:nvPr/>
        </p:nvSpPr>
        <p:spPr>
          <a:xfrm>
            <a:off x="6720840" y="4956048"/>
            <a:ext cx="4572000" cy="457200"/>
          </a:xfrm>
          <a:prstGeom prst="rect">
            <a:avLst/>
          </a:prstGeom>
          <a:noFill/>
          <a:ln/>
        </p:spPr>
        <p:txBody>
          <a:bodyPr wrap="square" lIns="0" tIns="0" rIns="0" bIns="0" rtlCol="0" anchor="ctr"/>
          <a:lstStyle/>
          <a:p>
            <a:pPr indent="0" marL="0">
              <a:buNone/>
            </a:pPr>
            <a:r>
              <a:rPr lang="en-US" sz="1300" dirty="0">
                <a:solidFill>
                  <a:srgbClr val="CBD6E2"/>
                </a:solidFill>
                <a:latin typeface="Calibri" pitchFamily="34" charset="0"/>
                <a:ea typeface="Calibri" pitchFamily="34" charset="-122"/>
                <a:cs typeface="Calibri" pitchFamily="34" charset="-120"/>
              </a:rPr>
              <a:t>Help policymakers target high-risk regions</a:t>
            </a:r>
            <a:endParaRPr lang="en-US" sz="1300" dirty="0"/>
          </a:p>
        </p:txBody>
      </p:sp>
      <p:sp>
        <p:nvSpPr>
          <p:cNvPr id="21" name="Text 19"/>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The Data</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9,763 annual records • WHO • 150 countries • 2000–2024</a:t>
            </a:r>
            <a:endParaRPr lang="en-US" sz="1450" dirty="0"/>
          </a:p>
        </p:txBody>
      </p:sp>
      <p:sp>
        <p:nvSpPr>
          <p:cNvPr id="5" name="Shape 3"/>
          <p:cNvSpPr/>
          <p:nvPr/>
        </p:nvSpPr>
        <p:spPr>
          <a:xfrm>
            <a:off x="548640" y="1600200"/>
            <a:ext cx="5440680" cy="1234440"/>
          </a:xfrm>
          <a:prstGeom prst="rect">
            <a:avLst/>
          </a:prstGeom>
          <a:solidFill>
            <a:srgbClr val="FFFFFF"/>
          </a:solidFill>
          <a:ln w="12700">
            <a:solidFill>
              <a:srgbClr val="E0E6EC"/>
            </a:solidFill>
            <a:prstDash val="solid"/>
          </a:ln>
        </p:spPr>
      </p:sp>
      <p:sp>
        <p:nvSpPr>
          <p:cNvPr id="6" name="Shape 4"/>
          <p:cNvSpPr/>
          <p:nvPr/>
        </p:nvSpPr>
        <p:spPr>
          <a:xfrm>
            <a:off x="548640" y="1600200"/>
            <a:ext cx="91440" cy="1234440"/>
          </a:xfrm>
          <a:prstGeom prst="rect">
            <a:avLst/>
          </a:prstGeom>
          <a:solidFill>
            <a:srgbClr val="E07B1C"/>
          </a:solidFill>
          <a:ln/>
        </p:spPr>
      </p:sp>
      <p:sp>
        <p:nvSpPr>
          <p:cNvPr id="7" name="Text 5"/>
          <p:cNvSpPr/>
          <p:nvPr/>
        </p:nvSpPr>
        <p:spPr>
          <a:xfrm>
            <a:off x="822960" y="1746504"/>
            <a:ext cx="4937760" cy="384048"/>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New Infections</a:t>
            </a:r>
            <a:endParaRPr lang="en-US" sz="1700" dirty="0"/>
          </a:p>
        </p:txBody>
      </p:sp>
      <p:sp>
        <p:nvSpPr>
          <p:cNvPr id="8" name="Text 6"/>
          <p:cNvSpPr/>
          <p:nvPr/>
        </p:nvSpPr>
        <p:spPr>
          <a:xfrm>
            <a:off x="822960" y="2167128"/>
            <a:ext cx="5029200" cy="548640"/>
          </a:xfrm>
          <a:prstGeom prst="rect">
            <a:avLst/>
          </a:prstGeom>
          <a:noFill/>
          <a:ln/>
        </p:spPr>
        <p:txBody>
          <a:bodyPr wrap="square" lIns="0" tIns="0" rIns="0" bIns="0" rtlCol="0" anchor="t"/>
          <a:lstStyle/>
          <a:p>
            <a:pPr indent="0" marL="0">
              <a:lnSpc>
                <a:spcPts val="1600"/>
              </a:lnSpc>
              <a:buNone/>
            </a:pPr>
            <a:r>
              <a:rPr lang="en-US" sz="1250" dirty="0">
                <a:solidFill>
                  <a:srgbClr val="5A6B7B"/>
                </a:solidFill>
                <a:latin typeface="Calibri" pitchFamily="34" charset="0"/>
                <a:ea typeface="Calibri" pitchFamily="34" charset="-122"/>
                <a:cs typeface="Calibri" pitchFamily="34" charset="-120"/>
              </a:rPr>
              <a:t>Newly reported HIV cases — measures disease spread (incidence)</a:t>
            </a:r>
            <a:endParaRPr lang="en-US" sz="1250" dirty="0"/>
          </a:p>
        </p:txBody>
      </p:sp>
      <p:sp>
        <p:nvSpPr>
          <p:cNvPr id="9" name="Shape 7"/>
          <p:cNvSpPr/>
          <p:nvPr/>
        </p:nvSpPr>
        <p:spPr>
          <a:xfrm>
            <a:off x="6172200" y="1600200"/>
            <a:ext cx="5440680" cy="1234440"/>
          </a:xfrm>
          <a:prstGeom prst="rect">
            <a:avLst/>
          </a:prstGeom>
          <a:solidFill>
            <a:srgbClr val="FFFFFF"/>
          </a:solidFill>
          <a:ln w="12700">
            <a:solidFill>
              <a:srgbClr val="E0E6EC"/>
            </a:solidFill>
            <a:prstDash val="solid"/>
          </a:ln>
        </p:spPr>
      </p:sp>
      <p:sp>
        <p:nvSpPr>
          <p:cNvPr id="10" name="Shape 8"/>
          <p:cNvSpPr/>
          <p:nvPr/>
        </p:nvSpPr>
        <p:spPr>
          <a:xfrm>
            <a:off x="6172200" y="1600200"/>
            <a:ext cx="91440" cy="1234440"/>
          </a:xfrm>
          <a:prstGeom prst="rect">
            <a:avLst/>
          </a:prstGeom>
          <a:solidFill>
            <a:srgbClr val="C0392B"/>
          </a:solidFill>
          <a:ln/>
        </p:spPr>
      </p:sp>
      <p:sp>
        <p:nvSpPr>
          <p:cNvPr id="11" name="Text 9"/>
          <p:cNvSpPr/>
          <p:nvPr/>
        </p:nvSpPr>
        <p:spPr>
          <a:xfrm>
            <a:off x="6446520" y="1746504"/>
            <a:ext cx="4937760" cy="384048"/>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HIV Deaths</a:t>
            </a:r>
            <a:endParaRPr lang="en-US" sz="1700" dirty="0"/>
          </a:p>
        </p:txBody>
      </p:sp>
      <p:sp>
        <p:nvSpPr>
          <p:cNvPr id="12" name="Text 10"/>
          <p:cNvSpPr/>
          <p:nvPr/>
        </p:nvSpPr>
        <p:spPr>
          <a:xfrm>
            <a:off x="6446520" y="2167128"/>
            <a:ext cx="5029200" cy="548640"/>
          </a:xfrm>
          <a:prstGeom prst="rect">
            <a:avLst/>
          </a:prstGeom>
          <a:noFill/>
          <a:ln/>
        </p:spPr>
        <p:txBody>
          <a:bodyPr wrap="square" lIns="0" tIns="0" rIns="0" bIns="0" rtlCol="0" anchor="t"/>
          <a:lstStyle/>
          <a:p>
            <a:pPr indent="0" marL="0">
              <a:lnSpc>
                <a:spcPts val="1600"/>
              </a:lnSpc>
              <a:buNone/>
            </a:pPr>
            <a:r>
              <a:rPr lang="en-US" sz="1250" dirty="0">
                <a:solidFill>
                  <a:srgbClr val="5A6B7B"/>
                </a:solidFill>
                <a:latin typeface="Calibri" pitchFamily="34" charset="0"/>
                <a:ea typeface="Calibri" pitchFamily="34" charset="-122"/>
                <a:cs typeface="Calibri" pitchFamily="34" charset="-120"/>
              </a:rPr>
              <a:t>Deaths caused by HIV — measures severity &amp; mortality</a:t>
            </a:r>
            <a:endParaRPr lang="en-US" sz="1250" dirty="0"/>
          </a:p>
        </p:txBody>
      </p:sp>
      <p:sp>
        <p:nvSpPr>
          <p:cNvPr id="13" name="Shape 11"/>
          <p:cNvSpPr/>
          <p:nvPr/>
        </p:nvSpPr>
        <p:spPr>
          <a:xfrm>
            <a:off x="548640" y="3017520"/>
            <a:ext cx="5440680" cy="1234440"/>
          </a:xfrm>
          <a:prstGeom prst="rect">
            <a:avLst/>
          </a:prstGeom>
          <a:solidFill>
            <a:srgbClr val="FFFFFF"/>
          </a:solidFill>
          <a:ln w="12700">
            <a:solidFill>
              <a:srgbClr val="E0E6EC"/>
            </a:solidFill>
            <a:prstDash val="solid"/>
          </a:ln>
        </p:spPr>
      </p:sp>
      <p:sp>
        <p:nvSpPr>
          <p:cNvPr id="14" name="Shape 12"/>
          <p:cNvSpPr/>
          <p:nvPr/>
        </p:nvSpPr>
        <p:spPr>
          <a:xfrm>
            <a:off x="548640" y="3017520"/>
            <a:ext cx="91440" cy="1234440"/>
          </a:xfrm>
          <a:prstGeom prst="rect">
            <a:avLst/>
          </a:prstGeom>
          <a:solidFill>
            <a:srgbClr val="2A9D8F"/>
          </a:solidFill>
          <a:ln/>
        </p:spPr>
      </p:sp>
      <p:sp>
        <p:nvSpPr>
          <p:cNvPr id="15" name="Text 13"/>
          <p:cNvSpPr/>
          <p:nvPr/>
        </p:nvSpPr>
        <p:spPr>
          <a:xfrm>
            <a:off x="822960" y="3163824"/>
            <a:ext cx="4937760" cy="384048"/>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People Living with HIV</a:t>
            </a:r>
            <a:endParaRPr lang="en-US" sz="1700" dirty="0"/>
          </a:p>
        </p:txBody>
      </p:sp>
      <p:sp>
        <p:nvSpPr>
          <p:cNvPr id="16" name="Text 14"/>
          <p:cNvSpPr/>
          <p:nvPr/>
        </p:nvSpPr>
        <p:spPr>
          <a:xfrm>
            <a:off x="822960" y="3584448"/>
            <a:ext cx="5029200" cy="548640"/>
          </a:xfrm>
          <a:prstGeom prst="rect">
            <a:avLst/>
          </a:prstGeom>
          <a:noFill/>
          <a:ln/>
        </p:spPr>
        <p:txBody>
          <a:bodyPr wrap="square" lIns="0" tIns="0" rIns="0" bIns="0" rtlCol="0" anchor="t"/>
          <a:lstStyle/>
          <a:p>
            <a:pPr indent="0" marL="0">
              <a:lnSpc>
                <a:spcPts val="1600"/>
              </a:lnSpc>
              <a:buNone/>
            </a:pPr>
            <a:r>
              <a:rPr lang="en-US" sz="1250" dirty="0">
                <a:solidFill>
                  <a:srgbClr val="5A6B7B"/>
                </a:solidFill>
                <a:latin typeface="Calibri" pitchFamily="34" charset="0"/>
                <a:ea typeface="Calibri" pitchFamily="34" charset="-122"/>
                <a:cs typeface="Calibri" pitchFamily="34" charset="-120"/>
              </a:rPr>
              <a:t>Total individuals living with HIV — measures burden (prevalence)</a:t>
            </a:r>
            <a:endParaRPr lang="en-US" sz="1250" dirty="0"/>
          </a:p>
        </p:txBody>
      </p:sp>
      <p:sp>
        <p:nvSpPr>
          <p:cNvPr id="17" name="Shape 15"/>
          <p:cNvSpPr/>
          <p:nvPr/>
        </p:nvSpPr>
        <p:spPr>
          <a:xfrm>
            <a:off x="6172200" y="3017520"/>
            <a:ext cx="5440680" cy="1234440"/>
          </a:xfrm>
          <a:prstGeom prst="rect">
            <a:avLst/>
          </a:prstGeom>
          <a:solidFill>
            <a:srgbClr val="FFFFFF"/>
          </a:solidFill>
          <a:ln w="12700">
            <a:solidFill>
              <a:srgbClr val="E0E6EC"/>
            </a:solidFill>
            <a:prstDash val="solid"/>
          </a:ln>
        </p:spPr>
      </p:sp>
      <p:sp>
        <p:nvSpPr>
          <p:cNvPr id="18" name="Shape 16"/>
          <p:cNvSpPr/>
          <p:nvPr/>
        </p:nvSpPr>
        <p:spPr>
          <a:xfrm>
            <a:off x="6172200" y="3017520"/>
            <a:ext cx="91440" cy="1234440"/>
          </a:xfrm>
          <a:prstGeom prst="rect">
            <a:avLst/>
          </a:prstGeom>
          <a:solidFill>
            <a:srgbClr val="1F3A5F"/>
          </a:solidFill>
          <a:ln/>
        </p:spPr>
      </p:sp>
      <p:sp>
        <p:nvSpPr>
          <p:cNvPr id="19" name="Text 17"/>
          <p:cNvSpPr/>
          <p:nvPr/>
        </p:nvSpPr>
        <p:spPr>
          <a:xfrm>
            <a:off x="6446520" y="3163824"/>
            <a:ext cx="4937760" cy="384048"/>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ART Coverage (%)</a:t>
            </a:r>
            <a:endParaRPr lang="en-US" sz="1700" dirty="0"/>
          </a:p>
        </p:txBody>
      </p:sp>
      <p:sp>
        <p:nvSpPr>
          <p:cNvPr id="20" name="Text 18"/>
          <p:cNvSpPr/>
          <p:nvPr/>
        </p:nvSpPr>
        <p:spPr>
          <a:xfrm>
            <a:off x="6446520" y="3584448"/>
            <a:ext cx="5029200" cy="548640"/>
          </a:xfrm>
          <a:prstGeom prst="rect">
            <a:avLst/>
          </a:prstGeom>
          <a:noFill/>
          <a:ln/>
        </p:spPr>
        <p:txBody>
          <a:bodyPr wrap="square" lIns="0" tIns="0" rIns="0" bIns="0" rtlCol="0" anchor="t"/>
          <a:lstStyle/>
          <a:p>
            <a:pPr indent="0" marL="0">
              <a:lnSpc>
                <a:spcPts val="1600"/>
              </a:lnSpc>
              <a:buNone/>
            </a:pPr>
            <a:r>
              <a:rPr lang="en-US" sz="1250" dirty="0">
                <a:solidFill>
                  <a:srgbClr val="5A6B7B"/>
                </a:solidFill>
                <a:latin typeface="Calibri" pitchFamily="34" charset="0"/>
                <a:ea typeface="Calibri" pitchFamily="34" charset="-122"/>
                <a:cs typeface="Calibri" pitchFamily="34" charset="-120"/>
              </a:rPr>
              <a:t>Share of HIV-positive people on treatment — measures access</a:t>
            </a:r>
            <a:endParaRPr lang="en-US" sz="1250" dirty="0"/>
          </a:p>
        </p:txBody>
      </p:sp>
      <p:sp>
        <p:nvSpPr>
          <p:cNvPr id="21" name="Shape 19"/>
          <p:cNvSpPr/>
          <p:nvPr/>
        </p:nvSpPr>
        <p:spPr>
          <a:xfrm>
            <a:off x="548640" y="4526280"/>
            <a:ext cx="11064240" cy="1280160"/>
          </a:xfrm>
          <a:prstGeom prst="rect">
            <a:avLst/>
          </a:prstGeom>
          <a:solidFill>
            <a:srgbClr val="1F3A5F"/>
          </a:solidFill>
          <a:ln/>
        </p:spPr>
      </p:sp>
      <p:sp>
        <p:nvSpPr>
          <p:cNvPr id="22" name="Text 20"/>
          <p:cNvSpPr/>
          <p:nvPr/>
        </p:nvSpPr>
        <p:spPr>
          <a:xfrm>
            <a:off x="914400" y="4645152"/>
            <a:ext cx="10424160" cy="1051560"/>
          </a:xfrm>
          <a:prstGeom prst="rect">
            <a:avLst/>
          </a:prstGeom>
          <a:noFill/>
          <a:ln/>
        </p:spPr>
        <p:txBody>
          <a:bodyPr wrap="square" lIns="0" tIns="0" rIns="0" bIns="0" rtlCol="0" anchor="ctr"/>
          <a:lstStyle/>
          <a:p>
            <a:pPr indent="0" marL="0">
              <a:lnSpc>
                <a:spcPts val="1800"/>
              </a:lnSpc>
              <a:buNone/>
            </a:pPr>
            <a:r>
              <a:rPr lang="en-US" sz="1350" b="1" dirty="0">
                <a:solidFill>
                  <a:srgbClr val="E07B1C"/>
                </a:solidFill>
                <a:latin typeface="Calibri" pitchFamily="34" charset="0"/>
                <a:ea typeface="Calibri" pitchFamily="34" charset="-122"/>
                <a:cs typeface="Calibri" pitchFamily="34" charset="-120"/>
              </a:rPr>
              <a:t>Two data nuances handled in modelling.  </a:t>
            </a:r>
            <a:pPr indent="0" marL="0">
              <a:lnSpc>
                <a:spcPts val="1800"/>
              </a:lnSpc>
              <a:buNone/>
            </a:pPr>
            <a:r>
              <a:rPr lang="en-US" sz="1350" dirty="0">
                <a:solidFill>
                  <a:srgbClr val="FFFFFF"/>
                </a:solidFill>
                <a:latin typeface="Calibri" pitchFamily="34" charset="0"/>
                <a:ea typeface="Calibri" pitchFamily="34" charset="-122"/>
                <a:cs typeface="Calibri" pitchFamily="34" charset="-120"/>
              </a:rPr>
              <a:t>ART coverage is a percentage (averaged, never summed); and new infections &amp; ART coverage are reported every five years until 2020, then annually — so trends use comparable years rather than treating gaps as zeros.</a:t>
            </a:r>
            <a:endParaRPr lang="en-US" sz="1350" dirty="0"/>
          </a:p>
        </p:txBody>
      </p:sp>
      <p:sp>
        <p:nvSpPr>
          <p:cNvPr id="23" name="Text 21"/>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Methodology &amp; Data Model</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A clean star schema: 1 fact table + 3 dimensions</a:t>
            </a:r>
            <a:endParaRPr lang="en-US" sz="1450" dirty="0"/>
          </a:p>
        </p:txBody>
      </p:sp>
      <p:sp>
        <p:nvSpPr>
          <p:cNvPr id="5" name="Shape 3"/>
          <p:cNvSpPr/>
          <p:nvPr/>
        </p:nvSpPr>
        <p:spPr>
          <a:xfrm>
            <a:off x="548640" y="1600200"/>
            <a:ext cx="2468880" cy="566928"/>
          </a:xfrm>
          <a:prstGeom prst="rect">
            <a:avLst/>
          </a:prstGeom>
          <a:solidFill>
            <a:srgbClr val="E07B1C"/>
          </a:solidFill>
          <a:ln/>
        </p:spPr>
      </p:sp>
      <p:sp>
        <p:nvSpPr>
          <p:cNvPr id="6" name="Text 4"/>
          <p:cNvSpPr/>
          <p:nvPr/>
        </p:nvSpPr>
        <p:spPr>
          <a:xfrm>
            <a:off x="548640" y="1600200"/>
            <a:ext cx="24688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Collection</a:t>
            </a:r>
            <a:endParaRPr lang="en-US" sz="1200" dirty="0"/>
          </a:p>
        </p:txBody>
      </p:sp>
      <p:sp>
        <p:nvSpPr>
          <p:cNvPr id="7" name="Text 5"/>
          <p:cNvSpPr/>
          <p:nvPr/>
        </p:nvSpPr>
        <p:spPr>
          <a:xfrm>
            <a:off x="3035808" y="1627632"/>
            <a:ext cx="256032" cy="512064"/>
          </a:xfrm>
          <a:prstGeom prst="rect">
            <a:avLst/>
          </a:prstGeom>
          <a:noFill/>
          <a:ln/>
        </p:spPr>
        <p:txBody>
          <a:bodyPr wrap="square" lIns="0" tIns="0" rIns="0" bIns="0" rtlCol="0" anchor="ctr"/>
          <a:lstStyle/>
          <a:p>
            <a:pPr algn="ctr" indent="0" marL="0">
              <a:buNone/>
            </a:pPr>
            <a:r>
              <a:rPr lang="en-US" sz="1200" dirty="0">
                <a:solidFill>
                  <a:srgbClr val="E07B1C"/>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a:off x="3291840" y="1600200"/>
            <a:ext cx="2468880" cy="566928"/>
          </a:xfrm>
          <a:prstGeom prst="rect">
            <a:avLst/>
          </a:prstGeom>
          <a:solidFill>
            <a:srgbClr val="1F3A5F"/>
          </a:solidFill>
          <a:ln/>
        </p:spPr>
      </p:sp>
      <p:sp>
        <p:nvSpPr>
          <p:cNvPr id="9" name="Text 7"/>
          <p:cNvSpPr/>
          <p:nvPr/>
        </p:nvSpPr>
        <p:spPr>
          <a:xfrm>
            <a:off x="3291840" y="1600200"/>
            <a:ext cx="24688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Modelling</a:t>
            </a:r>
            <a:endParaRPr lang="en-US" sz="1200" dirty="0"/>
          </a:p>
        </p:txBody>
      </p:sp>
      <p:sp>
        <p:nvSpPr>
          <p:cNvPr id="10" name="Text 8"/>
          <p:cNvSpPr/>
          <p:nvPr/>
        </p:nvSpPr>
        <p:spPr>
          <a:xfrm>
            <a:off x="5779008" y="1627632"/>
            <a:ext cx="256032" cy="512064"/>
          </a:xfrm>
          <a:prstGeom prst="rect">
            <a:avLst/>
          </a:prstGeom>
          <a:noFill/>
          <a:ln/>
        </p:spPr>
        <p:txBody>
          <a:bodyPr wrap="square" lIns="0" tIns="0" rIns="0" bIns="0" rtlCol="0" anchor="ctr"/>
          <a:lstStyle/>
          <a:p>
            <a:pPr algn="ctr" indent="0" marL="0">
              <a:buNone/>
            </a:pPr>
            <a:r>
              <a:rPr lang="en-US" sz="1200" dirty="0">
                <a:solidFill>
                  <a:srgbClr val="E07B1C"/>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6035040" y="1600200"/>
            <a:ext cx="2468880" cy="566928"/>
          </a:xfrm>
          <a:prstGeom prst="rect">
            <a:avLst/>
          </a:prstGeom>
          <a:solidFill>
            <a:srgbClr val="1F3A5F"/>
          </a:solidFill>
          <a:ln/>
        </p:spPr>
      </p:sp>
      <p:sp>
        <p:nvSpPr>
          <p:cNvPr id="12" name="Text 10"/>
          <p:cNvSpPr/>
          <p:nvPr/>
        </p:nvSpPr>
        <p:spPr>
          <a:xfrm>
            <a:off x="6035040" y="1600200"/>
            <a:ext cx="24688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Analysis &amp; Visualisation</a:t>
            </a:r>
            <a:endParaRPr lang="en-US" sz="1200" dirty="0"/>
          </a:p>
        </p:txBody>
      </p:sp>
      <p:sp>
        <p:nvSpPr>
          <p:cNvPr id="13" name="Text 11"/>
          <p:cNvSpPr/>
          <p:nvPr/>
        </p:nvSpPr>
        <p:spPr>
          <a:xfrm>
            <a:off x="8522208" y="1627632"/>
            <a:ext cx="256032" cy="512064"/>
          </a:xfrm>
          <a:prstGeom prst="rect">
            <a:avLst/>
          </a:prstGeom>
          <a:noFill/>
          <a:ln/>
        </p:spPr>
        <p:txBody>
          <a:bodyPr wrap="square" lIns="0" tIns="0" rIns="0" bIns="0" rtlCol="0" anchor="ctr"/>
          <a:lstStyle/>
          <a:p>
            <a:pPr algn="ctr" indent="0" marL="0">
              <a:buNone/>
            </a:pPr>
            <a:r>
              <a:rPr lang="en-US" sz="1200" dirty="0">
                <a:solidFill>
                  <a:srgbClr val="E07B1C"/>
                </a:solidFill>
                <a:latin typeface="Calibri" pitchFamily="34" charset="0"/>
                <a:ea typeface="Calibri" pitchFamily="34" charset="-122"/>
                <a:cs typeface="Calibri" pitchFamily="34" charset="-120"/>
              </a:rPr>
              <a:t>▶</a:t>
            </a:r>
            <a:endParaRPr lang="en-US" sz="1200" dirty="0"/>
          </a:p>
        </p:txBody>
      </p:sp>
      <p:sp>
        <p:nvSpPr>
          <p:cNvPr id="14" name="Shape 12"/>
          <p:cNvSpPr/>
          <p:nvPr/>
        </p:nvSpPr>
        <p:spPr>
          <a:xfrm>
            <a:off x="8778240" y="1600200"/>
            <a:ext cx="2468880" cy="566928"/>
          </a:xfrm>
          <a:prstGeom prst="rect">
            <a:avLst/>
          </a:prstGeom>
          <a:solidFill>
            <a:srgbClr val="1F3A5F"/>
          </a:solidFill>
          <a:ln/>
        </p:spPr>
      </p:sp>
      <p:sp>
        <p:nvSpPr>
          <p:cNvPr id="15" name="Text 13"/>
          <p:cNvSpPr/>
          <p:nvPr/>
        </p:nvSpPr>
        <p:spPr>
          <a:xfrm>
            <a:off x="8778240" y="1600200"/>
            <a:ext cx="246888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Recommendations</a:t>
            </a:r>
            <a:endParaRPr lang="en-US" sz="1200" dirty="0"/>
          </a:p>
        </p:txBody>
      </p:sp>
      <p:sp>
        <p:nvSpPr>
          <p:cNvPr id="16" name="Shape 14"/>
          <p:cNvSpPr/>
          <p:nvPr/>
        </p:nvSpPr>
        <p:spPr>
          <a:xfrm>
            <a:off x="7004304" y="4526280"/>
            <a:ext cx="1828800" cy="0"/>
          </a:xfrm>
          <a:prstGeom prst="line">
            <a:avLst/>
          </a:prstGeom>
          <a:noFill/>
          <a:ln w="19050">
            <a:solidFill>
              <a:srgbClr val="5A6B7B"/>
            </a:solidFill>
            <a:prstDash val="solid"/>
          </a:ln>
        </p:spPr>
      </p:sp>
      <p:sp>
        <p:nvSpPr>
          <p:cNvPr id="17" name="Shape 15"/>
          <p:cNvSpPr/>
          <p:nvPr/>
        </p:nvSpPr>
        <p:spPr>
          <a:xfrm>
            <a:off x="5175504" y="4526280"/>
            <a:ext cx="-1828800" cy="0"/>
          </a:xfrm>
          <a:prstGeom prst="line">
            <a:avLst/>
          </a:prstGeom>
          <a:noFill/>
          <a:ln w="19050">
            <a:solidFill>
              <a:srgbClr val="5A6B7B"/>
            </a:solidFill>
            <a:prstDash val="solid"/>
          </a:ln>
        </p:spPr>
      </p:sp>
      <p:sp>
        <p:nvSpPr>
          <p:cNvPr id="18" name="Shape 16"/>
          <p:cNvSpPr/>
          <p:nvPr/>
        </p:nvSpPr>
        <p:spPr>
          <a:xfrm>
            <a:off x="6912864" y="4206240"/>
            <a:ext cx="0" cy="-914400"/>
          </a:xfrm>
          <a:prstGeom prst="line">
            <a:avLst/>
          </a:prstGeom>
          <a:noFill/>
          <a:ln w="19050">
            <a:solidFill>
              <a:srgbClr val="5A6B7B"/>
            </a:solidFill>
            <a:prstDash val="solid"/>
          </a:ln>
        </p:spPr>
      </p:sp>
      <p:sp>
        <p:nvSpPr>
          <p:cNvPr id="19" name="Shape 17"/>
          <p:cNvSpPr/>
          <p:nvPr/>
        </p:nvSpPr>
        <p:spPr>
          <a:xfrm>
            <a:off x="5175504" y="4114800"/>
            <a:ext cx="1828800" cy="1371600"/>
          </a:xfrm>
          <a:prstGeom prst="rect">
            <a:avLst/>
          </a:prstGeom>
          <a:solidFill>
            <a:srgbClr val="FFFFFF"/>
          </a:solidFill>
          <a:ln w="19050">
            <a:solidFill>
              <a:srgbClr val="E07B1C"/>
            </a:solidFill>
            <a:prstDash val="solid"/>
          </a:ln>
          <a:effectLst>
            <a:outerShdw sx="100000" sy="100000" kx="0" ky="0" algn="bl" rotWithShape="0" blurRad="76200" dist="25400" dir="8100000">
              <a:srgbClr val="000000">
                <a:alpha val="12000"/>
              </a:srgbClr>
            </a:outerShdw>
          </a:effectLst>
        </p:spPr>
      </p:sp>
      <p:sp>
        <p:nvSpPr>
          <p:cNvPr id="20" name="Shape 18"/>
          <p:cNvSpPr/>
          <p:nvPr/>
        </p:nvSpPr>
        <p:spPr>
          <a:xfrm>
            <a:off x="5175504" y="4114800"/>
            <a:ext cx="1828800" cy="310896"/>
          </a:xfrm>
          <a:prstGeom prst="rect">
            <a:avLst/>
          </a:prstGeom>
          <a:solidFill>
            <a:srgbClr val="E07B1C"/>
          </a:solidFill>
          <a:ln/>
        </p:spPr>
      </p:sp>
      <p:sp>
        <p:nvSpPr>
          <p:cNvPr id="21" name="Text 19"/>
          <p:cNvSpPr/>
          <p:nvPr/>
        </p:nvSpPr>
        <p:spPr>
          <a:xfrm>
            <a:off x="5175504" y="4114800"/>
            <a:ext cx="18288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Fact_HIV (9,763)</a:t>
            </a:r>
            <a:endParaRPr lang="en-US" sz="1150" dirty="0"/>
          </a:p>
        </p:txBody>
      </p:sp>
      <p:sp>
        <p:nvSpPr>
          <p:cNvPr id="22" name="Text 20"/>
          <p:cNvSpPr/>
          <p:nvPr/>
        </p:nvSpPr>
        <p:spPr>
          <a:xfrm>
            <a:off x="5285232" y="4480560"/>
            <a:ext cx="1609344" cy="960120"/>
          </a:xfrm>
          <a:prstGeom prst="rect">
            <a:avLst/>
          </a:prstGeom>
          <a:noFill/>
          <a:ln/>
        </p:spPr>
        <p:txBody>
          <a:bodyPr wrap="square" lIns="0" tIns="0" rIns="0" bIns="0" rtlCol="0" anchor="t"/>
          <a:lstStyle/>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IndicatorKey (FK)</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CountryKey (FK)</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DateKey (FK)</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Value</a:t>
            </a:r>
            <a:endParaRPr lang="en-US" sz="1000" dirty="0"/>
          </a:p>
        </p:txBody>
      </p:sp>
      <p:sp>
        <p:nvSpPr>
          <p:cNvPr id="23" name="Shape 21"/>
          <p:cNvSpPr/>
          <p:nvPr/>
        </p:nvSpPr>
        <p:spPr>
          <a:xfrm>
            <a:off x="1792224" y="4114800"/>
            <a:ext cx="2286000" cy="1188720"/>
          </a:xfrm>
          <a:prstGeom prst="rect">
            <a:avLst/>
          </a:prstGeom>
          <a:solidFill>
            <a:srgbClr val="FFFFFF"/>
          </a:solidFill>
          <a:ln w="19050">
            <a:solidFill>
              <a:srgbClr val="2A9D8F"/>
            </a:solidFill>
            <a:prstDash val="solid"/>
          </a:ln>
          <a:effectLst>
            <a:outerShdw sx="100000" sy="100000" kx="0" ky="0" algn="bl" rotWithShape="0" blurRad="76200" dist="25400" dir="8100000">
              <a:srgbClr val="000000">
                <a:alpha val="12000"/>
              </a:srgbClr>
            </a:outerShdw>
          </a:effectLst>
        </p:spPr>
      </p:sp>
      <p:sp>
        <p:nvSpPr>
          <p:cNvPr id="24" name="Shape 22"/>
          <p:cNvSpPr/>
          <p:nvPr/>
        </p:nvSpPr>
        <p:spPr>
          <a:xfrm>
            <a:off x="1792224" y="4114800"/>
            <a:ext cx="2286000" cy="310896"/>
          </a:xfrm>
          <a:prstGeom prst="rect">
            <a:avLst/>
          </a:prstGeom>
          <a:solidFill>
            <a:srgbClr val="2A9D8F"/>
          </a:solidFill>
          <a:ln/>
        </p:spPr>
      </p:sp>
      <p:sp>
        <p:nvSpPr>
          <p:cNvPr id="25" name="Text 23"/>
          <p:cNvSpPr/>
          <p:nvPr/>
        </p:nvSpPr>
        <p:spPr>
          <a:xfrm>
            <a:off x="1792224" y="4114800"/>
            <a:ext cx="22860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Dim_Geography (150)</a:t>
            </a:r>
            <a:endParaRPr lang="en-US" sz="1150" dirty="0"/>
          </a:p>
        </p:txBody>
      </p:sp>
      <p:sp>
        <p:nvSpPr>
          <p:cNvPr id="26" name="Text 24"/>
          <p:cNvSpPr/>
          <p:nvPr/>
        </p:nvSpPr>
        <p:spPr>
          <a:xfrm>
            <a:off x="1901952" y="4480560"/>
            <a:ext cx="2066544" cy="777240"/>
          </a:xfrm>
          <a:prstGeom prst="rect">
            <a:avLst/>
          </a:prstGeom>
          <a:noFill/>
          <a:ln/>
        </p:spPr>
        <p:txBody>
          <a:bodyPr wrap="square" lIns="0" tIns="0" rIns="0" bIns="0" rtlCol="0" anchor="t"/>
          <a:lstStyle/>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CountryKey (PK)</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Country</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RegionCode</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WHO_Region</a:t>
            </a:r>
            <a:endParaRPr lang="en-US" sz="1000" dirty="0"/>
          </a:p>
        </p:txBody>
      </p:sp>
      <p:sp>
        <p:nvSpPr>
          <p:cNvPr id="27" name="Shape 25"/>
          <p:cNvSpPr/>
          <p:nvPr/>
        </p:nvSpPr>
        <p:spPr>
          <a:xfrm>
            <a:off x="8833104" y="4114800"/>
            <a:ext cx="2286000" cy="1188720"/>
          </a:xfrm>
          <a:prstGeom prst="rect">
            <a:avLst/>
          </a:prstGeom>
          <a:solidFill>
            <a:srgbClr val="FFFFFF"/>
          </a:solidFill>
          <a:ln w="19050">
            <a:solidFill>
              <a:srgbClr val="1F3A5F"/>
            </a:solidFill>
            <a:prstDash val="solid"/>
          </a:ln>
          <a:effectLst>
            <a:outerShdw sx="100000" sy="100000" kx="0" ky="0" algn="bl" rotWithShape="0" blurRad="76200" dist="25400" dir="8100000">
              <a:srgbClr val="000000">
                <a:alpha val="12000"/>
              </a:srgbClr>
            </a:outerShdw>
          </a:effectLst>
        </p:spPr>
      </p:sp>
      <p:sp>
        <p:nvSpPr>
          <p:cNvPr id="28" name="Shape 26"/>
          <p:cNvSpPr/>
          <p:nvPr/>
        </p:nvSpPr>
        <p:spPr>
          <a:xfrm>
            <a:off x="8833104" y="4114800"/>
            <a:ext cx="2286000" cy="310896"/>
          </a:xfrm>
          <a:prstGeom prst="rect">
            <a:avLst/>
          </a:prstGeom>
          <a:solidFill>
            <a:srgbClr val="1F3A5F"/>
          </a:solidFill>
          <a:ln/>
        </p:spPr>
      </p:sp>
      <p:sp>
        <p:nvSpPr>
          <p:cNvPr id="29" name="Text 27"/>
          <p:cNvSpPr/>
          <p:nvPr/>
        </p:nvSpPr>
        <p:spPr>
          <a:xfrm>
            <a:off x="8833104" y="4114800"/>
            <a:ext cx="22860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Dim_Indicator (4)</a:t>
            </a:r>
            <a:endParaRPr lang="en-US" sz="1150" dirty="0"/>
          </a:p>
        </p:txBody>
      </p:sp>
      <p:sp>
        <p:nvSpPr>
          <p:cNvPr id="30" name="Text 28"/>
          <p:cNvSpPr/>
          <p:nvPr/>
        </p:nvSpPr>
        <p:spPr>
          <a:xfrm>
            <a:off x="8942832" y="4480560"/>
            <a:ext cx="2066544" cy="777240"/>
          </a:xfrm>
          <a:prstGeom prst="rect">
            <a:avLst/>
          </a:prstGeom>
          <a:noFill/>
          <a:ln/>
        </p:spPr>
        <p:txBody>
          <a:bodyPr wrap="square" lIns="0" tIns="0" rIns="0" bIns="0" rtlCol="0" anchor="t"/>
          <a:lstStyle/>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IndicatorKey (PK)</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Indicator</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Measure_Type</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Unit</a:t>
            </a:r>
            <a:endParaRPr lang="en-US" sz="1000" dirty="0"/>
          </a:p>
        </p:txBody>
      </p:sp>
      <p:sp>
        <p:nvSpPr>
          <p:cNvPr id="31" name="Shape 29"/>
          <p:cNvSpPr/>
          <p:nvPr/>
        </p:nvSpPr>
        <p:spPr>
          <a:xfrm>
            <a:off x="6044184" y="2240280"/>
            <a:ext cx="2377440" cy="1143000"/>
          </a:xfrm>
          <a:prstGeom prst="rect">
            <a:avLst/>
          </a:prstGeom>
          <a:solidFill>
            <a:srgbClr val="FFFFFF"/>
          </a:solidFill>
          <a:ln w="19050">
            <a:solidFill>
              <a:srgbClr val="C0392B"/>
            </a:solidFill>
            <a:prstDash val="solid"/>
          </a:ln>
          <a:effectLst>
            <a:outerShdw sx="100000" sy="100000" kx="0" ky="0" algn="bl" rotWithShape="0" blurRad="76200" dist="25400" dir="8100000">
              <a:srgbClr val="000000">
                <a:alpha val="12000"/>
              </a:srgbClr>
            </a:outerShdw>
          </a:effectLst>
        </p:spPr>
      </p:sp>
      <p:sp>
        <p:nvSpPr>
          <p:cNvPr id="32" name="Shape 30"/>
          <p:cNvSpPr/>
          <p:nvPr/>
        </p:nvSpPr>
        <p:spPr>
          <a:xfrm>
            <a:off x="6044184" y="2240280"/>
            <a:ext cx="2377440" cy="310896"/>
          </a:xfrm>
          <a:prstGeom prst="rect">
            <a:avLst/>
          </a:prstGeom>
          <a:solidFill>
            <a:srgbClr val="C0392B"/>
          </a:solidFill>
          <a:ln/>
        </p:spPr>
      </p:sp>
      <p:sp>
        <p:nvSpPr>
          <p:cNvPr id="33" name="Text 31"/>
          <p:cNvSpPr/>
          <p:nvPr/>
        </p:nvSpPr>
        <p:spPr>
          <a:xfrm>
            <a:off x="6044184" y="2240280"/>
            <a:ext cx="237744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Dim_Date (25)</a:t>
            </a:r>
            <a:endParaRPr lang="en-US" sz="1150" dirty="0"/>
          </a:p>
        </p:txBody>
      </p:sp>
      <p:sp>
        <p:nvSpPr>
          <p:cNvPr id="34" name="Text 32"/>
          <p:cNvSpPr/>
          <p:nvPr/>
        </p:nvSpPr>
        <p:spPr>
          <a:xfrm>
            <a:off x="6153912" y="2606040"/>
            <a:ext cx="2157984" cy="731520"/>
          </a:xfrm>
          <a:prstGeom prst="rect">
            <a:avLst/>
          </a:prstGeom>
          <a:noFill/>
          <a:ln/>
        </p:spPr>
        <p:txBody>
          <a:bodyPr wrap="square" lIns="0" tIns="0" rIns="0" bIns="0" rtlCol="0" anchor="t"/>
          <a:lstStyle/>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DateKey (PK) • Year</a:t>
            </a:r>
            <a:endParaRPr lang="en-US" sz="1000" dirty="0"/>
          </a:p>
          <a:p>
            <a:pPr indent="0" marL="0">
              <a:lnSpc>
                <a:spcPts val="1400"/>
              </a:lnSpc>
              <a:buNone/>
            </a:pPr>
            <a:r>
              <a:rPr lang="en-US" sz="1000" dirty="0">
                <a:solidFill>
                  <a:srgbClr val="1B2733"/>
                </a:solidFill>
                <a:latin typeface="Calibri" pitchFamily="34" charset="0"/>
                <a:ea typeface="Calibri" pitchFamily="34" charset="-122"/>
                <a:cs typeface="Calibri" pitchFamily="34" charset="-120"/>
              </a:rPr>
              <a:t>Decade • ART_Era</a:t>
            </a:r>
            <a:endParaRPr lang="en-US" sz="1000" dirty="0"/>
          </a:p>
        </p:txBody>
      </p:sp>
      <p:sp>
        <p:nvSpPr>
          <p:cNvPr id="35" name="Text 33"/>
          <p:cNvSpPr/>
          <p:nvPr/>
        </p:nvSpPr>
        <p:spPr>
          <a:xfrm>
            <a:off x="548640" y="5989320"/>
            <a:ext cx="11064240" cy="457200"/>
          </a:xfrm>
          <a:prstGeom prst="rect">
            <a:avLst/>
          </a:prstGeom>
          <a:noFill/>
          <a:ln/>
        </p:spPr>
        <p:txBody>
          <a:bodyPr wrap="square" lIns="0" tIns="0" rIns="0" bIns="0" rtlCol="0" anchor="ctr"/>
          <a:lstStyle/>
          <a:p>
            <a:pPr algn="ctr" indent="0" marL="0">
              <a:buNone/>
            </a:pPr>
            <a:r>
              <a:rPr lang="en-US" sz="1150" b="1" dirty="0">
                <a:solidFill>
                  <a:srgbClr val="C2641A"/>
                </a:solidFill>
                <a:latin typeface="Calibri" pitchFamily="34" charset="0"/>
                <a:ea typeface="Calibri" pitchFamily="34" charset="-122"/>
                <a:cs typeface="Calibri" pitchFamily="34" charset="-120"/>
              </a:rPr>
              <a:t>KPIs (DAX):  </a:t>
            </a:r>
            <a:pPr algn="ctr" indent="0" marL="0">
              <a:buNone/>
            </a:pPr>
            <a:r>
              <a:rPr lang="en-US" sz="1150" dirty="0">
                <a:solidFill>
                  <a:srgbClr val="1B2733"/>
                </a:solidFill>
                <a:latin typeface="Calibri" pitchFamily="34" charset="0"/>
                <a:ea typeface="Calibri" pitchFamily="34" charset="-122"/>
                <a:cs typeface="Calibri" pitchFamily="34" charset="-120"/>
              </a:rPr>
              <a:t>Death Rate = Deaths ÷ PLHIV   •   Survival Rate = 1 − Death Rate   •   Deaths per 1,000 Infections   •   ART Coverage (PLHIV-weighted)   •   YoY Growth</a:t>
            </a:r>
            <a:endParaRPr lang="en-US" sz="1150" dirty="0"/>
          </a:p>
        </p:txBody>
      </p:sp>
      <p:sp>
        <p:nvSpPr>
          <p:cNvPr id="36" name="Text 34"/>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1F3A5F"/>
          </a:solidFill>
          <a:ln/>
        </p:spPr>
      </p:sp>
      <p:sp>
        <p:nvSpPr>
          <p:cNvPr id="3" name="Shape 1"/>
          <p:cNvSpPr/>
          <p:nvPr/>
        </p:nvSpPr>
        <p:spPr>
          <a:xfrm>
            <a:off x="0" y="0"/>
            <a:ext cx="146304" cy="822960"/>
          </a:xfrm>
          <a:prstGeom prst="rect">
            <a:avLst/>
          </a:prstGeom>
          <a:solidFill>
            <a:srgbClr val="E07B1C"/>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Power BI Dashboard — Page 1: Overview</a:t>
            </a:r>
            <a:endParaRPr lang="en-US" sz="2200" dirty="0"/>
          </a:p>
        </p:txBody>
      </p:sp>
      <p:sp>
        <p:nvSpPr>
          <p:cNvPr id="5" name="Text 3"/>
          <p:cNvSpPr/>
          <p:nvPr/>
        </p:nvSpPr>
        <p:spPr>
          <a:xfrm>
            <a:off x="7680960" y="0"/>
            <a:ext cx="4206240" cy="822960"/>
          </a:xfrm>
          <a:prstGeom prst="rect">
            <a:avLst/>
          </a:prstGeom>
          <a:noFill/>
          <a:ln/>
        </p:spPr>
        <p:txBody>
          <a:bodyPr wrap="square" lIns="0" tIns="0" rIns="0" bIns="0" rtlCol="0" anchor="ctr"/>
          <a:lstStyle/>
          <a:p>
            <a:pPr algn="r" indent="0" marL="0">
              <a:buNone/>
            </a:pPr>
            <a:r>
              <a:rPr lang="en-US" sz="1200" i="1" dirty="0">
                <a:solidFill>
                  <a:srgbClr val="FFD9B3"/>
                </a:solidFill>
                <a:latin typeface="Calibri" pitchFamily="34" charset="0"/>
                <a:ea typeface="Calibri" pitchFamily="34" charset="-122"/>
                <a:cs typeface="Calibri" pitchFamily="34" charset="-120"/>
              </a:rPr>
              <a:t>KPIs • global trend • treatment map • deaths per 1,000</a:t>
            </a:r>
            <a:endParaRPr lang="en-US" sz="1200" dirty="0"/>
          </a:p>
        </p:txBody>
      </p:sp>
      <p:pic>
        <p:nvPicPr>
          <p:cNvPr id="6" name="Image 0" descr="/mnt/user-data/uploads/9cd89dde-83e9-4ad5-b8cc-cae5cddb02a6.jpg">    </p:cNvPr>
          <p:cNvPicPr>
            <a:picLocks noChangeAspect="1"/>
          </p:cNvPicPr>
          <p:nvPr/>
        </p:nvPicPr>
        <p:blipFill>
          <a:blip r:embed="rId1"/>
          <a:stretch>
            <a:fillRect/>
          </a:stretch>
        </p:blipFill>
        <p:spPr>
          <a:xfrm>
            <a:off x="777240" y="1051560"/>
            <a:ext cx="10634472" cy="5908809"/>
          </a:xfrm>
          <a:prstGeom prst="rect">
            <a:avLst/>
          </a:prstGeom>
        </p:spPr>
      </p:pic>
      <p:sp>
        <p:nvSpPr>
          <p:cNvPr id="7" name="Text 4"/>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rgbClr val="1F3A5F"/>
          </a:solidFill>
          <a:ln/>
        </p:spPr>
      </p:sp>
      <p:sp>
        <p:nvSpPr>
          <p:cNvPr id="3" name="Shape 1"/>
          <p:cNvSpPr/>
          <p:nvPr/>
        </p:nvSpPr>
        <p:spPr>
          <a:xfrm>
            <a:off x="0" y="0"/>
            <a:ext cx="146304" cy="822960"/>
          </a:xfrm>
          <a:prstGeom prst="rect">
            <a:avLst/>
          </a:prstGeom>
          <a:solidFill>
            <a:srgbClr val="E07B1C"/>
          </a:solidFill>
          <a:ln/>
        </p:spPr>
      </p:sp>
      <p:sp>
        <p:nvSpPr>
          <p:cNvPr id="4" name="Text 2"/>
          <p:cNvSpPr/>
          <p:nvPr/>
        </p:nvSpPr>
        <p:spPr>
          <a:xfrm>
            <a:off x="457200" y="0"/>
            <a:ext cx="8229600" cy="82296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The Power BI Dashboard — Page 2: Deep Dive</a:t>
            </a:r>
            <a:endParaRPr lang="en-US" sz="2200" dirty="0"/>
          </a:p>
        </p:txBody>
      </p:sp>
      <p:sp>
        <p:nvSpPr>
          <p:cNvPr id="5" name="Text 3"/>
          <p:cNvSpPr/>
          <p:nvPr/>
        </p:nvSpPr>
        <p:spPr>
          <a:xfrm>
            <a:off x="7680960" y="0"/>
            <a:ext cx="4206240" cy="822960"/>
          </a:xfrm>
          <a:prstGeom prst="rect">
            <a:avLst/>
          </a:prstGeom>
          <a:noFill/>
          <a:ln/>
        </p:spPr>
        <p:txBody>
          <a:bodyPr wrap="square" lIns="0" tIns="0" rIns="0" bIns="0" rtlCol="0" anchor="ctr"/>
          <a:lstStyle/>
          <a:p>
            <a:pPr algn="r" indent="0" marL="0">
              <a:buNone/>
            </a:pPr>
            <a:r>
              <a:rPr lang="en-US" sz="1200" i="1" dirty="0">
                <a:solidFill>
                  <a:srgbClr val="FFD9B3"/>
                </a:solidFill>
                <a:latin typeface="Calibri" pitchFamily="34" charset="0"/>
                <a:ea typeface="Calibri" pitchFamily="34" charset="-122"/>
                <a:cs typeface="Calibri" pitchFamily="34" charset="-120"/>
              </a:rPr>
              <a:t>regions • at-risk • best access • coverage vs deaths</a:t>
            </a:r>
            <a:endParaRPr lang="en-US" sz="1200" dirty="0"/>
          </a:p>
        </p:txBody>
      </p:sp>
      <p:pic>
        <p:nvPicPr>
          <p:cNvPr id="6" name="Image 0" descr="/mnt/user-data/uploads/e69b74db-aa32-445b-8572-570bda49fa4c.jpg">    </p:cNvPr>
          <p:cNvPicPr>
            <a:picLocks noChangeAspect="1"/>
          </p:cNvPicPr>
          <p:nvPr/>
        </p:nvPicPr>
        <p:blipFill>
          <a:blip r:embed="rId1"/>
          <a:stretch>
            <a:fillRect/>
          </a:stretch>
        </p:blipFill>
        <p:spPr>
          <a:xfrm>
            <a:off x="640080" y="1051560"/>
            <a:ext cx="10881360" cy="5903643"/>
          </a:xfrm>
          <a:prstGeom prst="rect">
            <a:avLst/>
          </a:prstGeom>
        </p:spPr>
      </p:pic>
      <p:sp>
        <p:nvSpPr>
          <p:cNvPr id="7" name="Text 4"/>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Executive Snapshot</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HIV has shifted from a fatal disease to a managed chronic condition — but the job is unfinished.</a:t>
            </a:r>
            <a:endParaRPr lang="en-US" sz="1450" dirty="0"/>
          </a:p>
        </p:txBody>
      </p:sp>
      <p:sp>
        <p:nvSpPr>
          <p:cNvPr id="5" name="Shape 3"/>
          <p:cNvSpPr/>
          <p:nvPr/>
        </p:nvSpPr>
        <p:spPr>
          <a:xfrm>
            <a:off x="548640" y="1737360"/>
            <a:ext cx="2139696" cy="1463040"/>
          </a:xfrm>
          <a:prstGeom prst="rect">
            <a:avLst/>
          </a:prstGeom>
          <a:solidFill>
            <a:srgbClr val="1F3A5F"/>
          </a:solidFill>
          <a:ln/>
          <a:effectLst>
            <a:outerShdw sx="100000" sy="100000" kx="0" ky="0" algn="bl" rotWithShape="0" blurRad="101600" dist="38100" dir="8100000">
              <a:srgbClr val="000000">
                <a:alpha val="18000"/>
              </a:srgbClr>
            </a:outerShdw>
          </a:effectLst>
        </p:spPr>
      </p:sp>
      <p:sp>
        <p:nvSpPr>
          <p:cNvPr id="6" name="Shape 4"/>
          <p:cNvSpPr/>
          <p:nvPr/>
        </p:nvSpPr>
        <p:spPr>
          <a:xfrm>
            <a:off x="548640" y="1737360"/>
            <a:ext cx="2139696" cy="82296"/>
          </a:xfrm>
          <a:prstGeom prst="rect">
            <a:avLst/>
          </a:prstGeom>
          <a:solidFill>
            <a:srgbClr val="E07B1C"/>
          </a:solidFill>
          <a:ln/>
        </p:spPr>
      </p:sp>
      <p:sp>
        <p:nvSpPr>
          <p:cNvPr id="7" name="Text 5"/>
          <p:cNvSpPr/>
          <p:nvPr/>
        </p:nvSpPr>
        <p:spPr>
          <a:xfrm>
            <a:off x="548640" y="1920240"/>
            <a:ext cx="2139696" cy="658368"/>
          </a:xfrm>
          <a:prstGeom prst="rect">
            <a:avLst/>
          </a:prstGeom>
          <a:noFill/>
          <a:ln/>
        </p:spPr>
        <p:txBody>
          <a:bodyPr wrap="square" lIns="0" tIns="0" rIns="0" bIns="0" rtlCol="0" anchor="ctr"/>
          <a:lstStyle/>
          <a:p>
            <a:pPr algn="ctr" indent="0" marL="0">
              <a:buNone/>
            </a:pPr>
            <a:r>
              <a:rPr lang="en-US" sz="3300" b="1" dirty="0">
                <a:solidFill>
                  <a:srgbClr val="FFFFFF"/>
                </a:solidFill>
                <a:latin typeface="Georgia" pitchFamily="34" charset="0"/>
                <a:ea typeface="Georgia" pitchFamily="34" charset="-122"/>
                <a:cs typeface="Georgia" pitchFamily="34" charset="-120"/>
              </a:rPr>
              <a:t>984K</a:t>
            </a:r>
            <a:endParaRPr lang="en-US" sz="3300" dirty="0"/>
          </a:p>
        </p:txBody>
      </p:sp>
      <p:sp>
        <p:nvSpPr>
          <p:cNvPr id="8" name="Text 6"/>
          <p:cNvSpPr/>
          <p:nvPr/>
        </p:nvSpPr>
        <p:spPr>
          <a:xfrm>
            <a:off x="548640" y="2596896"/>
            <a:ext cx="2139696" cy="292608"/>
          </a:xfrm>
          <a:prstGeom prst="rect">
            <a:avLst/>
          </a:prstGeom>
          <a:noFill/>
          <a:ln/>
        </p:spPr>
        <p:txBody>
          <a:bodyPr wrap="square" lIns="0" tIns="0" rIns="0" bIns="0" rtlCol="0" anchor="ctr"/>
          <a:lstStyle/>
          <a:p>
            <a:pPr algn="ctr" indent="0" marL="0">
              <a:buNone/>
            </a:pPr>
            <a:r>
              <a:rPr lang="en-US" sz="1200" b="1" dirty="0">
                <a:solidFill>
                  <a:srgbClr val="FFD9B3"/>
                </a:solidFill>
                <a:latin typeface="Calibri" pitchFamily="34" charset="0"/>
                <a:ea typeface="Calibri" pitchFamily="34" charset="-122"/>
                <a:cs typeface="Calibri" pitchFamily="34" charset="-120"/>
              </a:rPr>
              <a:t>NEW INFECTIONS</a:t>
            </a:r>
            <a:endParaRPr lang="en-US" sz="1200" dirty="0"/>
          </a:p>
        </p:txBody>
      </p:sp>
      <p:sp>
        <p:nvSpPr>
          <p:cNvPr id="9" name="Text 7"/>
          <p:cNvSpPr/>
          <p:nvPr/>
        </p:nvSpPr>
        <p:spPr>
          <a:xfrm>
            <a:off x="548640" y="2871216"/>
            <a:ext cx="2139696" cy="256032"/>
          </a:xfrm>
          <a:prstGeom prst="rect">
            <a:avLst/>
          </a:prstGeom>
          <a:noFill/>
          <a:ln/>
        </p:spPr>
        <p:txBody>
          <a:bodyPr wrap="square" lIns="0" tIns="0" rIns="0" bIns="0" rtlCol="0" anchor="ctr"/>
          <a:lstStyle/>
          <a:p>
            <a:pPr algn="ctr" indent="0" marL="0">
              <a:buNone/>
            </a:pPr>
            <a:r>
              <a:rPr lang="en-US" sz="1000" dirty="0">
                <a:solidFill>
                  <a:srgbClr val="CCD6E0"/>
                </a:solidFill>
                <a:latin typeface="Calibri" pitchFamily="34" charset="0"/>
                <a:ea typeface="Calibri" pitchFamily="34" charset="-122"/>
                <a:cs typeface="Calibri" pitchFamily="34" charset="-120"/>
              </a:rPr>
              <a:t>↓59% vs 2000</a:t>
            </a:r>
            <a:endParaRPr lang="en-US" sz="1000" dirty="0"/>
          </a:p>
        </p:txBody>
      </p:sp>
      <p:sp>
        <p:nvSpPr>
          <p:cNvPr id="10" name="Shape 8"/>
          <p:cNvSpPr/>
          <p:nvPr/>
        </p:nvSpPr>
        <p:spPr>
          <a:xfrm>
            <a:off x="2852928" y="1737360"/>
            <a:ext cx="2139696" cy="1463040"/>
          </a:xfrm>
          <a:prstGeom prst="rect">
            <a:avLst/>
          </a:prstGeom>
          <a:solidFill>
            <a:srgbClr val="1F3A5F"/>
          </a:solidFill>
          <a:ln/>
          <a:effectLst>
            <a:outerShdw sx="100000" sy="100000" kx="0" ky="0" algn="bl" rotWithShape="0" blurRad="101600" dist="38100" dir="8100000">
              <a:srgbClr val="000000">
                <a:alpha val="18000"/>
              </a:srgbClr>
            </a:outerShdw>
          </a:effectLst>
        </p:spPr>
      </p:sp>
      <p:sp>
        <p:nvSpPr>
          <p:cNvPr id="11" name="Shape 9"/>
          <p:cNvSpPr/>
          <p:nvPr/>
        </p:nvSpPr>
        <p:spPr>
          <a:xfrm>
            <a:off x="2852928" y="1737360"/>
            <a:ext cx="2139696" cy="82296"/>
          </a:xfrm>
          <a:prstGeom prst="rect">
            <a:avLst/>
          </a:prstGeom>
          <a:solidFill>
            <a:srgbClr val="C0392B"/>
          </a:solidFill>
          <a:ln/>
        </p:spPr>
      </p:sp>
      <p:sp>
        <p:nvSpPr>
          <p:cNvPr id="12" name="Text 10"/>
          <p:cNvSpPr/>
          <p:nvPr/>
        </p:nvSpPr>
        <p:spPr>
          <a:xfrm>
            <a:off x="2852928" y="1920240"/>
            <a:ext cx="2139696" cy="658368"/>
          </a:xfrm>
          <a:prstGeom prst="rect">
            <a:avLst/>
          </a:prstGeom>
          <a:noFill/>
          <a:ln/>
        </p:spPr>
        <p:txBody>
          <a:bodyPr wrap="square" lIns="0" tIns="0" rIns="0" bIns="0" rtlCol="0" anchor="ctr"/>
          <a:lstStyle/>
          <a:p>
            <a:pPr algn="ctr" indent="0" marL="0">
              <a:buNone/>
            </a:pPr>
            <a:r>
              <a:rPr lang="en-US" sz="3300" b="1" dirty="0">
                <a:solidFill>
                  <a:srgbClr val="FFFFFF"/>
                </a:solidFill>
                <a:latin typeface="Georgia" pitchFamily="34" charset="0"/>
                <a:ea typeface="Georgia" pitchFamily="34" charset="-122"/>
                <a:cs typeface="Georgia" pitchFamily="34" charset="-120"/>
              </a:rPr>
              <a:t>523K</a:t>
            </a:r>
            <a:endParaRPr lang="en-US" sz="3300" dirty="0"/>
          </a:p>
        </p:txBody>
      </p:sp>
      <p:sp>
        <p:nvSpPr>
          <p:cNvPr id="13" name="Text 11"/>
          <p:cNvSpPr/>
          <p:nvPr/>
        </p:nvSpPr>
        <p:spPr>
          <a:xfrm>
            <a:off x="2852928" y="2596896"/>
            <a:ext cx="2139696" cy="292608"/>
          </a:xfrm>
          <a:prstGeom prst="rect">
            <a:avLst/>
          </a:prstGeom>
          <a:noFill/>
          <a:ln/>
        </p:spPr>
        <p:txBody>
          <a:bodyPr wrap="square" lIns="0" tIns="0" rIns="0" bIns="0" rtlCol="0" anchor="ctr"/>
          <a:lstStyle/>
          <a:p>
            <a:pPr algn="ctr" indent="0" marL="0">
              <a:buNone/>
            </a:pPr>
            <a:r>
              <a:rPr lang="en-US" sz="1200" b="1" dirty="0">
                <a:solidFill>
                  <a:srgbClr val="FFD9B3"/>
                </a:solidFill>
                <a:latin typeface="Calibri" pitchFamily="34" charset="0"/>
                <a:ea typeface="Calibri" pitchFamily="34" charset="-122"/>
                <a:cs typeface="Calibri" pitchFamily="34" charset="-120"/>
              </a:rPr>
              <a:t>HIV DEATHS</a:t>
            </a:r>
            <a:endParaRPr lang="en-US" sz="1200" dirty="0"/>
          </a:p>
        </p:txBody>
      </p:sp>
      <p:sp>
        <p:nvSpPr>
          <p:cNvPr id="14" name="Text 12"/>
          <p:cNvSpPr/>
          <p:nvPr/>
        </p:nvSpPr>
        <p:spPr>
          <a:xfrm>
            <a:off x="2852928" y="2871216"/>
            <a:ext cx="2139696" cy="256032"/>
          </a:xfrm>
          <a:prstGeom prst="rect">
            <a:avLst/>
          </a:prstGeom>
          <a:noFill/>
          <a:ln/>
        </p:spPr>
        <p:txBody>
          <a:bodyPr wrap="square" lIns="0" tIns="0" rIns="0" bIns="0" rtlCol="0" anchor="ctr"/>
          <a:lstStyle/>
          <a:p>
            <a:pPr algn="ctr" indent="0" marL="0">
              <a:buNone/>
            </a:pPr>
            <a:r>
              <a:rPr lang="en-US" sz="1000" dirty="0">
                <a:solidFill>
                  <a:srgbClr val="CCD6E0"/>
                </a:solidFill>
                <a:latin typeface="Calibri" pitchFamily="34" charset="0"/>
                <a:ea typeface="Calibri" pitchFamily="34" charset="-122"/>
                <a:cs typeface="Calibri" pitchFamily="34" charset="-120"/>
              </a:rPr>
              <a:t>↓70% from peak</a:t>
            </a:r>
            <a:endParaRPr lang="en-US" sz="1000" dirty="0"/>
          </a:p>
        </p:txBody>
      </p:sp>
      <p:sp>
        <p:nvSpPr>
          <p:cNvPr id="15" name="Shape 13"/>
          <p:cNvSpPr/>
          <p:nvPr/>
        </p:nvSpPr>
        <p:spPr>
          <a:xfrm>
            <a:off x="5157216" y="1737360"/>
            <a:ext cx="2139696" cy="1463040"/>
          </a:xfrm>
          <a:prstGeom prst="rect">
            <a:avLst/>
          </a:prstGeom>
          <a:solidFill>
            <a:srgbClr val="1F3A5F"/>
          </a:solidFill>
          <a:ln/>
          <a:effectLst>
            <a:outerShdw sx="100000" sy="100000" kx="0" ky="0" algn="bl" rotWithShape="0" blurRad="101600" dist="38100" dir="8100000">
              <a:srgbClr val="000000">
                <a:alpha val="18000"/>
              </a:srgbClr>
            </a:outerShdw>
          </a:effectLst>
        </p:spPr>
      </p:sp>
      <p:sp>
        <p:nvSpPr>
          <p:cNvPr id="16" name="Shape 14"/>
          <p:cNvSpPr/>
          <p:nvPr/>
        </p:nvSpPr>
        <p:spPr>
          <a:xfrm>
            <a:off x="5157216" y="1737360"/>
            <a:ext cx="2139696" cy="82296"/>
          </a:xfrm>
          <a:prstGeom prst="rect">
            <a:avLst/>
          </a:prstGeom>
          <a:solidFill>
            <a:srgbClr val="2A9D8F"/>
          </a:solidFill>
          <a:ln/>
        </p:spPr>
      </p:sp>
      <p:sp>
        <p:nvSpPr>
          <p:cNvPr id="17" name="Text 15"/>
          <p:cNvSpPr/>
          <p:nvPr/>
        </p:nvSpPr>
        <p:spPr>
          <a:xfrm>
            <a:off x="5157216" y="1920240"/>
            <a:ext cx="2139696" cy="658368"/>
          </a:xfrm>
          <a:prstGeom prst="rect">
            <a:avLst/>
          </a:prstGeom>
          <a:noFill/>
          <a:ln/>
        </p:spPr>
        <p:txBody>
          <a:bodyPr wrap="square" lIns="0" tIns="0" rIns="0" bIns="0" rtlCol="0" anchor="ctr"/>
          <a:lstStyle/>
          <a:p>
            <a:pPr algn="ctr" indent="0" marL="0">
              <a:buNone/>
            </a:pPr>
            <a:r>
              <a:rPr lang="en-US" sz="3300" b="1" dirty="0">
                <a:solidFill>
                  <a:srgbClr val="FFFFFF"/>
                </a:solidFill>
                <a:latin typeface="Georgia" pitchFamily="34" charset="0"/>
                <a:ea typeface="Georgia" pitchFamily="34" charset="-122"/>
                <a:cs typeface="Georgia" pitchFamily="34" charset="-120"/>
              </a:rPr>
              <a:t>35.2M</a:t>
            </a:r>
            <a:endParaRPr lang="en-US" sz="3300" dirty="0"/>
          </a:p>
        </p:txBody>
      </p:sp>
      <p:sp>
        <p:nvSpPr>
          <p:cNvPr id="18" name="Text 16"/>
          <p:cNvSpPr/>
          <p:nvPr/>
        </p:nvSpPr>
        <p:spPr>
          <a:xfrm>
            <a:off x="5157216" y="2596896"/>
            <a:ext cx="2139696" cy="292608"/>
          </a:xfrm>
          <a:prstGeom prst="rect">
            <a:avLst/>
          </a:prstGeom>
          <a:noFill/>
          <a:ln/>
        </p:spPr>
        <p:txBody>
          <a:bodyPr wrap="square" lIns="0" tIns="0" rIns="0" bIns="0" rtlCol="0" anchor="ctr"/>
          <a:lstStyle/>
          <a:p>
            <a:pPr algn="ctr" indent="0" marL="0">
              <a:buNone/>
            </a:pPr>
            <a:r>
              <a:rPr lang="en-US" sz="1200" b="1" dirty="0">
                <a:solidFill>
                  <a:srgbClr val="FFD9B3"/>
                </a:solidFill>
                <a:latin typeface="Calibri" pitchFamily="34" charset="0"/>
                <a:ea typeface="Calibri" pitchFamily="34" charset="-122"/>
                <a:cs typeface="Calibri" pitchFamily="34" charset="-120"/>
              </a:rPr>
              <a:t>LIVING WITH HIV</a:t>
            </a:r>
            <a:endParaRPr lang="en-US" sz="1200" dirty="0"/>
          </a:p>
        </p:txBody>
      </p:sp>
      <p:sp>
        <p:nvSpPr>
          <p:cNvPr id="19" name="Text 17"/>
          <p:cNvSpPr/>
          <p:nvPr/>
        </p:nvSpPr>
        <p:spPr>
          <a:xfrm>
            <a:off x="5157216" y="2871216"/>
            <a:ext cx="2139696" cy="256032"/>
          </a:xfrm>
          <a:prstGeom prst="rect">
            <a:avLst/>
          </a:prstGeom>
          <a:noFill/>
          <a:ln/>
        </p:spPr>
        <p:txBody>
          <a:bodyPr wrap="square" lIns="0" tIns="0" rIns="0" bIns="0" rtlCol="0" anchor="ctr"/>
          <a:lstStyle/>
          <a:p>
            <a:pPr algn="ctr" indent="0" marL="0">
              <a:buNone/>
            </a:pPr>
            <a:r>
              <a:rPr lang="en-US" sz="1000" dirty="0">
                <a:solidFill>
                  <a:srgbClr val="CCD6E0"/>
                </a:solidFill>
                <a:latin typeface="Calibri" pitchFamily="34" charset="0"/>
                <a:ea typeface="Calibri" pitchFamily="34" charset="-122"/>
                <a:cs typeface="Calibri" pitchFamily="34" charset="-120"/>
              </a:rPr>
              <a:t>rising prevalence</a:t>
            </a:r>
            <a:endParaRPr lang="en-US" sz="1000" dirty="0"/>
          </a:p>
        </p:txBody>
      </p:sp>
      <p:sp>
        <p:nvSpPr>
          <p:cNvPr id="20" name="Shape 18"/>
          <p:cNvSpPr/>
          <p:nvPr/>
        </p:nvSpPr>
        <p:spPr>
          <a:xfrm>
            <a:off x="7461504" y="1737360"/>
            <a:ext cx="2139696" cy="1463040"/>
          </a:xfrm>
          <a:prstGeom prst="rect">
            <a:avLst/>
          </a:prstGeom>
          <a:solidFill>
            <a:srgbClr val="1F3A5F"/>
          </a:solidFill>
          <a:ln/>
          <a:effectLst>
            <a:outerShdw sx="100000" sy="100000" kx="0" ky="0" algn="bl" rotWithShape="0" blurRad="101600" dist="38100" dir="8100000">
              <a:srgbClr val="000000">
                <a:alpha val="18000"/>
              </a:srgbClr>
            </a:outerShdw>
          </a:effectLst>
        </p:spPr>
      </p:sp>
      <p:sp>
        <p:nvSpPr>
          <p:cNvPr id="21" name="Shape 19"/>
          <p:cNvSpPr/>
          <p:nvPr/>
        </p:nvSpPr>
        <p:spPr>
          <a:xfrm>
            <a:off x="7461504" y="1737360"/>
            <a:ext cx="2139696" cy="82296"/>
          </a:xfrm>
          <a:prstGeom prst="rect">
            <a:avLst/>
          </a:prstGeom>
          <a:solidFill>
            <a:srgbClr val="1F3A5F"/>
          </a:solidFill>
          <a:ln/>
        </p:spPr>
      </p:sp>
      <p:sp>
        <p:nvSpPr>
          <p:cNvPr id="22" name="Text 20"/>
          <p:cNvSpPr/>
          <p:nvPr/>
        </p:nvSpPr>
        <p:spPr>
          <a:xfrm>
            <a:off x="7461504" y="1920240"/>
            <a:ext cx="2139696" cy="658368"/>
          </a:xfrm>
          <a:prstGeom prst="rect">
            <a:avLst/>
          </a:prstGeom>
          <a:noFill/>
          <a:ln/>
        </p:spPr>
        <p:txBody>
          <a:bodyPr wrap="square" lIns="0" tIns="0" rIns="0" bIns="0" rtlCol="0" anchor="ctr"/>
          <a:lstStyle/>
          <a:p>
            <a:pPr algn="ctr" indent="0" marL="0">
              <a:buNone/>
            </a:pPr>
            <a:r>
              <a:rPr lang="en-US" sz="3300" b="1" dirty="0">
                <a:solidFill>
                  <a:srgbClr val="FFFFFF"/>
                </a:solidFill>
                <a:latin typeface="Georgia" pitchFamily="34" charset="0"/>
                <a:ea typeface="Georgia" pitchFamily="34" charset="-122"/>
                <a:cs typeface="Georgia" pitchFamily="34" charset="-120"/>
              </a:rPr>
              <a:t>79%</a:t>
            </a:r>
            <a:endParaRPr lang="en-US" sz="3300" dirty="0"/>
          </a:p>
        </p:txBody>
      </p:sp>
      <p:sp>
        <p:nvSpPr>
          <p:cNvPr id="23" name="Text 21"/>
          <p:cNvSpPr/>
          <p:nvPr/>
        </p:nvSpPr>
        <p:spPr>
          <a:xfrm>
            <a:off x="7461504" y="2596896"/>
            <a:ext cx="2139696" cy="292608"/>
          </a:xfrm>
          <a:prstGeom prst="rect">
            <a:avLst/>
          </a:prstGeom>
          <a:noFill/>
          <a:ln/>
        </p:spPr>
        <p:txBody>
          <a:bodyPr wrap="square" lIns="0" tIns="0" rIns="0" bIns="0" rtlCol="0" anchor="ctr"/>
          <a:lstStyle/>
          <a:p>
            <a:pPr algn="ctr" indent="0" marL="0">
              <a:buNone/>
            </a:pPr>
            <a:r>
              <a:rPr lang="en-US" sz="1200" b="1" dirty="0">
                <a:solidFill>
                  <a:srgbClr val="FFD9B3"/>
                </a:solidFill>
                <a:latin typeface="Calibri" pitchFamily="34" charset="0"/>
                <a:ea typeface="Calibri" pitchFamily="34" charset="-122"/>
                <a:cs typeface="Calibri" pitchFamily="34" charset="-120"/>
              </a:rPr>
              <a:t>ART COVERAGE</a:t>
            </a:r>
            <a:endParaRPr lang="en-US" sz="1200" dirty="0"/>
          </a:p>
        </p:txBody>
      </p:sp>
      <p:sp>
        <p:nvSpPr>
          <p:cNvPr id="24" name="Text 22"/>
          <p:cNvSpPr/>
          <p:nvPr/>
        </p:nvSpPr>
        <p:spPr>
          <a:xfrm>
            <a:off x="7461504" y="2871216"/>
            <a:ext cx="2139696" cy="256032"/>
          </a:xfrm>
          <a:prstGeom prst="rect">
            <a:avLst/>
          </a:prstGeom>
          <a:noFill/>
          <a:ln/>
        </p:spPr>
        <p:txBody>
          <a:bodyPr wrap="square" lIns="0" tIns="0" rIns="0" bIns="0" rtlCol="0" anchor="ctr"/>
          <a:lstStyle/>
          <a:p>
            <a:pPr algn="ctr" indent="0" marL="0">
              <a:buNone/>
            </a:pPr>
            <a:r>
              <a:rPr lang="en-US" sz="1000" dirty="0">
                <a:solidFill>
                  <a:srgbClr val="CCD6E0"/>
                </a:solidFill>
                <a:latin typeface="Calibri" pitchFamily="34" charset="0"/>
                <a:ea typeface="Calibri" pitchFamily="34" charset="-122"/>
                <a:cs typeface="Calibri" pitchFamily="34" charset="-120"/>
              </a:rPr>
              <a:t>PLHIV-weighted</a:t>
            </a:r>
            <a:endParaRPr lang="en-US" sz="1000" dirty="0"/>
          </a:p>
        </p:txBody>
      </p:sp>
      <p:sp>
        <p:nvSpPr>
          <p:cNvPr id="25" name="Shape 23"/>
          <p:cNvSpPr/>
          <p:nvPr/>
        </p:nvSpPr>
        <p:spPr>
          <a:xfrm>
            <a:off x="9765792" y="1737360"/>
            <a:ext cx="2139696" cy="1463040"/>
          </a:xfrm>
          <a:prstGeom prst="rect">
            <a:avLst/>
          </a:prstGeom>
          <a:solidFill>
            <a:srgbClr val="1F3A5F"/>
          </a:solidFill>
          <a:ln/>
          <a:effectLst>
            <a:outerShdw sx="100000" sy="100000" kx="0" ky="0" algn="bl" rotWithShape="0" blurRad="101600" dist="38100" dir="8100000">
              <a:srgbClr val="000000">
                <a:alpha val="18000"/>
              </a:srgbClr>
            </a:outerShdw>
          </a:effectLst>
        </p:spPr>
      </p:sp>
      <p:sp>
        <p:nvSpPr>
          <p:cNvPr id="26" name="Shape 24"/>
          <p:cNvSpPr/>
          <p:nvPr/>
        </p:nvSpPr>
        <p:spPr>
          <a:xfrm>
            <a:off x="9765792" y="1737360"/>
            <a:ext cx="2139696" cy="82296"/>
          </a:xfrm>
          <a:prstGeom prst="rect">
            <a:avLst/>
          </a:prstGeom>
          <a:solidFill>
            <a:srgbClr val="C2641A"/>
          </a:solidFill>
          <a:ln/>
        </p:spPr>
      </p:sp>
      <p:sp>
        <p:nvSpPr>
          <p:cNvPr id="27" name="Text 25"/>
          <p:cNvSpPr/>
          <p:nvPr/>
        </p:nvSpPr>
        <p:spPr>
          <a:xfrm>
            <a:off x="9765792" y="1920240"/>
            <a:ext cx="2139696" cy="658368"/>
          </a:xfrm>
          <a:prstGeom prst="rect">
            <a:avLst/>
          </a:prstGeom>
          <a:noFill/>
          <a:ln/>
        </p:spPr>
        <p:txBody>
          <a:bodyPr wrap="square" lIns="0" tIns="0" rIns="0" bIns="0" rtlCol="0" anchor="ctr"/>
          <a:lstStyle/>
          <a:p>
            <a:pPr algn="ctr" indent="0" marL="0">
              <a:buNone/>
            </a:pPr>
            <a:r>
              <a:rPr lang="en-US" sz="3300" b="1" dirty="0">
                <a:solidFill>
                  <a:srgbClr val="FFFFFF"/>
                </a:solidFill>
                <a:latin typeface="Georgia" pitchFamily="34" charset="0"/>
                <a:ea typeface="Georgia" pitchFamily="34" charset="-122"/>
                <a:cs typeface="Georgia" pitchFamily="34" charset="-120"/>
              </a:rPr>
              <a:t>1.49%</a:t>
            </a:r>
            <a:endParaRPr lang="en-US" sz="3300" dirty="0"/>
          </a:p>
        </p:txBody>
      </p:sp>
      <p:sp>
        <p:nvSpPr>
          <p:cNvPr id="28" name="Text 26"/>
          <p:cNvSpPr/>
          <p:nvPr/>
        </p:nvSpPr>
        <p:spPr>
          <a:xfrm>
            <a:off x="9765792" y="2596896"/>
            <a:ext cx="2139696" cy="292608"/>
          </a:xfrm>
          <a:prstGeom prst="rect">
            <a:avLst/>
          </a:prstGeom>
          <a:noFill/>
          <a:ln/>
        </p:spPr>
        <p:txBody>
          <a:bodyPr wrap="square" lIns="0" tIns="0" rIns="0" bIns="0" rtlCol="0" anchor="ctr"/>
          <a:lstStyle/>
          <a:p>
            <a:pPr algn="ctr" indent="0" marL="0">
              <a:buNone/>
            </a:pPr>
            <a:r>
              <a:rPr lang="en-US" sz="1200" b="1" dirty="0">
                <a:solidFill>
                  <a:srgbClr val="FFD9B3"/>
                </a:solidFill>
                <a:latin typeface="Calibri" pitchFamily="34" charset="0"/>
                <a:ea typeface="Calibri" pitchFamily="34" charset="-122"/>
                <a:cs typeface="Calibri" pitchFamily="34" charset="-120"/>
              </a:rPr>
              <a:t>DEATH RATE</a:t>
            </a:r>
            <a:endParaRPr lang="en-US" sz="1200" dirty="0"/>
          </a:p>
        </p:txBody>
      </p:sp>
      <p:sp>
        <p:nvSpPr>
          <p:cNvPr id="29" name="Text 27"/>
          <p:cNvSpPr/>
          <p:nvPr/>
        </p:nvSpPr>
        <p:spPr>
          <a:xfrm>
            <a:off x="9765792" y="2871216"/>
            <a:ext cx="2139696" cy="256032"/>
          </a:xfrm>
          <a:prstGeom prst="rect">
            <a:avLst/>
          </a:prstGeom>
          <a:noFill/>
          <a:ln/>
        </p:spPr>
        <p:txBody>
          <a:bodyPr wrap="square" lIns="0" tIns="0" rIns="0" bIns="0" rtlCol="0" anchor="ctr"/>
          <a:lstStyle/>
          <a:p>
            <a:pPr algn="ctr" indent="0" marL="0">
              <a:buNone/>
            </a:pPr>
            <a:r>
              <a:rPr lang="en-US" sz="1000" dirty="0">
                <a:solidFill>
                  <a:srgbClr val="CCD6E0"/>
                </a:solidFill>
                <a:latin typeface="Calibri" pitchFamily="34" charset="0"/>
                <a:ea typeface="Calibri" pitchFamily="34" charset="-122"/>
                <a:cs typeface="Calibri" pitchFamily="34" charset="-120"/>
              </a:rPr>
              <a:t>deaths ÷ PLHIV</a:t>
            </a:r>
            <a:endParaRPr lang="en-US" sz="1000" dirty="0"/>
          </a:p>
        </p:txBody>
      </p:sp>
      <p:sp>
        <p:nvSpPr>
          <p:cNvPr id="30" name="Shape 28"/>
          <p:cNvSpPr/>
          <p:nvPr/>
        </p:nvSpPr>
        <p:spPr>
          <a:xfrm>
            <a:off x="548640" y="3611880"/>
            <a:ext cx="3474720" cy="2194560"/>
          </a:xfrm>
          <a:prstGeom prst="rect">
            <a:avLst/>
          </a:prstGeom>
          <a:solidFill>
            <a:srgbClr val="FFFFFF"/>
          </a:solidFill>
          <a:ln w="12700">
            <a:solidFill>
              <a:srgbClr val="E0E6EC"/>
            </a:solidFill>
            <a:prstDash val="solid"/>
          </a:ln>
        </p:spPr>
      </p:sp>
      <p:sp>
        <p:nvSpPr>
          <p:cNvPr id="31" name="Shape 29"/>
          <p:cNvSpPr/>
          <p:nvPr/>
        </p:nvSpPr>
        <p:spPr>
          <a:xfrm>
            <a:off x="777240" y="3822192"/>
            <a:ext cx="502920" cy="502920"/>
          </a:xfrm>
          <a:prstGeom prst="ellipse">
            <a:avLst/>
          </a:prstGeom>
          <a:solidFill>
            <a:srgbClr val="1F3A5F"/>
          </a:solidFill>
          <a:ln/>
        </p:spPr>
      </p:sp>
      <p:sp>
        <p:nvSpPr>
          <p:cNvPr id="32" name="Text 30"/>
          <p:cNvSpPr/>
          <p:nvPr/>
        </p:nvSpPr>
        <p:spPr>
          <a:xfrm>
            <a:off x="777240" y="3822192"/>
            <a:ext cx="502920" cy="502920"/>
          </a:xfrm>
          <a:prstGeom prst="rect">
            <a:avLst/>
          </a:prstGeom>
          <a:noFill/>
          <a:ln/>
        </p:spPr>
        <p:txBody>
          <a:bodyPr wrap="square" lIns="0" tIns="0" rIns="0" bIns="0" rtlCol="0" anchor="ctr"/>
          <a:lstStyle/>
          <a:p>
            <a:pPr algn="ctr" indent="0" marL="0">
              <a:buNone/>
            </a:pPr>
            <a:r>
              <a:rPr lang="en-US" sz="2200" b="1" dirty="0">
                <a:solidFill>
                  <a:srgbClr val="E07B1C"/>
                </a:solidFill>
                <a:latin typeface="Georgia" pitchFamily="34" charset="0"/>
                <a:ea typeface="Georgia" pitchFamily="34" charset="-122"/>
                <a:cs typeface="Georgia" pitchFamily="34" charset="-120"/>
              </a:rPr>
              <a:t>1</a:t>
            </a:r>
            <a:endParaRPr lang="en-US" sz="2200" dirty="0"/>
          </a:p>
        </p:txBody>
      </p:sp>
      <p:sp>
        <p:nvSpPr>
          <p:cNvPr id="33" name="Text 31"/>
          <p:cNvSpPr/>
          <p:nvPr/>
        </p:nvSpPr>
        <p:spPr>
          <a:xfrm>
            <a:off x="777240" y="4416552"/>
            <a:ext cx="30632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Infections down, but stalling</a:t>
            </a:r>
            <a:endParaRPr lang="en-US" sz="1500" dirty="0"/>
          </a:p>
        </p:txBody>
      </p:sp>
      <p:sp>
        <p:nvSpPr>
          <p:cNvPr id="34" name="Text 32"/>
          <p:cNvSpPr/>
          <p:nvPr/>
        </p:nvSpPr>
        <p:spPr>
          <a:xfrm>
            <a:off x="777240" y="4882896"/>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1B2733"/>
                </a:solidFill>
                <a:latin typeface="Calibri" pitchFamily="34" charset="0"/>
                <a:ea typeface="Calibri" pitchFamily="34" charset="-122"/>
                <a:cs typeface="Calibri" pitchFamily="34" charset="-120"/>
              </a:rPr>
              <a:t>Down 59% since 2000 — yet essentially flat from 2023 to 2024 (+0.25%).</a:t>
            </a:r>
            <a:endParaRPr lang="en-US" sz="1200" dirty="0"/>
          </a:p>
        </p:txBody>
      </p:sp>
      <p:sp>
        <p:nvSpPr>
          <p:cNvPr id="35" name="Shape 33"/>
          <p:cNvSpPr/>
          <p:nvPr/>
        </p:nvSpPr>
        <p:spPr>
          <a:xfrm>
            <a:off x="4206240" y="3611880"/>
            <a:ext cx="3474720" cy="2194560"/>
          </a:xfrm>
          <a:prstGeom prst="rect">
            <a:avLst/>
          </a:prstGeom>
          <a:solidFill>
            <a:srgbClr val="FFFFFF"/>
          </a:solidFill>
          <a:ln w="12700">
            <a:solidFill>
              <a:srgbClr val="E0E6EC"/>
            </a:solidFill>
            <a:prstDash val="solid"/>
          </a:ln>
        </p:spPr>
      </p:sp>
      <p:sp>
        <p:nvSpPr>
          <p:cNvPr id="36" name="Shape 34"/>
          <p:cNvSpPr/>
          <p:nvPr/>
        </p:nvSpPr>
        <p:spPr>
          <a:xfrm>
            <a:off x="4434840" y="3822192"/>
            <a:ext cx="502920" cy="502920"/>
          </a:xfrm>
          <a:prstGeom prst="ellipse">
            <a:avLst/>
          </a:prstGeom>
          <a:solidFill>
            <a:srgbClr val="1F3A5F"/>
          </a:solidFill>
          <a:ln/>
        </p:spPr>
      </p:sp>
      <p:sp>
        <p:nvSpPr>
          <p:cNvPr id="37" name="Text 35"/>
          <p:cNvSpPr/>
          <p:nvPr/>
        </p:nvSpPr>
        <p:spPr>
          <a:xfrm>
            <a:off x="4434840" y="3822192"/>
            <a:ext cx="502920" cy="502920"/>
          </a:xfrm>
          <a:prstGeom prst="rect">
            <a:avLst/>
          </a:prstGeom>
          <a:noFill/>
          <a:ln/>
        </p:spPr>
        <p:txBody>
          <a:bodyPr wrap="square" lIns="0" tIns="0" rIns="0" bIns="0" rtlCol="0" anchor="ctr"/>
          <a:lstStyle/>
          <a:p>
            <a:pPr algn="ctr" indent="0" marL="0">
              <a:buNone/>
            </a:pPr>
            <a:r>
              <a:rPr lang="en-US" sz="2200" b="1" dirty="0">
                <a:solidFill>
                  <a:srgbClr val="E07B1C"/>
                </a:solidFill>
                <a:latin typeface="Georgia" pitchFamily="34" charset="0"/>
                <a:ea typeface="Georgia" pitchFamily="34" charset="-122"/>
                <a:cs typeface="Georgia" pitchFamily="34" charset="-120"/>
              </a:rPr>
              <a:t>2</a:t>
            </a:r>
            <a:endParaRPr lang="en-US" sz="2200" dirty="0"/>
          </a:p>
        </p:txBody>
      </p:sp>
      <p:sp>
        <p:nvSpPr>
          <p:cNvPr id="38" name="Text 36"/>
          <p:cNvSpPr/>
          <p:nvPr/>
        </p:nvSpPr>
        <p:spPr>
          <a:xfrm>
            <a:off x="4434840" y="4416552"/>
            <a:ext cx="30632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Treatment is working</a:t>
            </a:r>
            <a:endParaRPr lang="en-US" sz="1500" dirty="0"/>
          </a:p>
        </p:txBody>
      </p:sp>
      <p:sp>
        <p:nvSpPr>
          <p:cNvPr id="39" name="Text 37"/>
          <p:cNvSpPr/>
          <p:nvPr/>
        </p:nvSpPr>
        <p:spPr>
          <a:xfrm>
            <a:off x="4434840" y="4882896"/>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1B2733"/>
                </a:solidFill>
                <a:latin typeface="Calibri" pitchFamily="34" charset="0"/>
                <a:ea typeface="Calibri" pitchFamily="34" charset="-122"/>
                <a:cs typeface="Calibri" pitchFamily="34" charset="-120"/>
              </a:rPr>
              <a:t>ART coverage and death rate move in opposite directions (r ≈ −0.48).</a:t>
            </a:r>
            <a:endParaRPr lang="en-US" sz="1200" dirty="0"/>
          </a:p>
        </p:txBody>
      </p:sp>
      <p:sp>
        <p:nvSpPr>
          <p:cNvPr id="40" name="Shape 38"/>
          <p:cNvSpPr/>
          <p:nvPr/>
        </p:nvSpPr>
        <p:spPr>
          <a:xfrm>
            <a:off x="7863840" y="3611880"/>
            <a:ext cx="3474720" cy="2194560"/>
          </a:xfrm>
          <a:prstGeom prst="rect">
            <a:avLst/>
          </a:prstGeom>
          <a:solidFill>
            <a:srgbClr val="FFFFFF"/>
          </a:solidFill>
          <a:ln w="12700">
            <a:solidFill>
              <a:srgbClr val="E0E6EC"/>
            </a:solidFill>
            <a:prstDash val="solid"/>
          </a:ln>
        </p:spPr>
      </p:sp>
      <p:sp>
        <p:nvSpPr>
          <p:cNvPr id="41" name="Shape 39"/>
          <p:cNvSpPr/>
          <p:nvPr/>
        </p:nvSpPr>
        <p:spPr>
          <a:xfrm>
            <a:off x="8092440" y="3822192"/>
            <a:ext cx="502920" cy="502920"/>
          </a:xfrm>
          <a:prstGeom prst="ellipse">
            <a:avLst/>
          </a:prstGeom>
          <a:solidFill>
            <a:srgbClr val="1F3A5F"/>
          </a:solidFill>
          <a:ln/>
        </p:spPr>
      </p:sp>
      <p:sp>
        <p:nvSpPr>
          <p:cNvPr id="42" name="Text 40"/>
          <p:cNvSpPr/>
          <p:nvPr/>
        </p:nvSpPr>
        <p:spPr>
          <a:xfrm>
            <a:off x="8092440" y="3822192"/>
            <a:ext cx="502920" cy="502920"/>
          </a:xfrm>
          <a:prstGeom prst="rect">
            <a:avLst/>
          </a:prstGeom>
          <a:noFill/>
          <a:ln/>
        </p:spPr>
        <p:txBody>
          <a:bodyPr wrap="square" lIns="0" tIns="0" rIns="0" bIns="0" rtlCol="0" anchor="ctr"/>
          <a:lstStyle/>
          <a:p>
            <a:pPr algn="ctr" indent="0" marL="0">
              <a:buNone/>
            </a:pPr>
            <a:r>
              <a:rPr lang="en-US" sz="2200" b="1" dirty="0">
                <a:solidFill>
                  <a:srgbClr val="E07B1C"/>
                </a:solidFill>
                <a:latin typeface="Georgia" pitchFamily="34" charset="0"/>
                <a:ea typeface="Georgia" pitchFamily="34" charset="-122"/>
                <a:cs typeface="Georgia" pitchFamily="34" charset="-120"/>
              </a:rPr>
              <a:t>3</a:t>
            </a:r>
            <a:endParaRPr lang="en-US" sz="2200" dirty="0"/>
          </a:p>
        </p:txBody>
      </p:sp>
      <p:sp>
        <p:nvSpPr>
          <p:cNvPr id="43" name="Text 41"/>
          <p:cNvSpPr/>
          <p:nvPr/>
        </p:nvSpPr>
        <p:spPr>
          <a:xfrm>
            <a:off x="8092440" y="4416552"/>
            <a:ext cx="30632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Burden keeps growing</a:t>
            </a:r>
            <a:endParaRPr lang="en-US" sz="1500" dirty="0"/>
          </a:p>
        </p:txBody>
      </p:sp>
      <p:sp>
        <p:nvSpPr>
          <p:cNvPr id="44" name="Text 42"/>
          <p:cNvSpPr/>
          <p:nvPr/>
        </p:nvSpPr>
        <p:spPr>
          <a:xfrm>
            <a:off x="8092440" y="4882896"/>
            <a:ext cx="3063240" cy="868680"/>
          </a:xfrm>
          <a:prstGeom prst="rect">
            <a:avLst/>
          </a:prstGeom>
          <a:noFill/>
          <a:ln/>
        </p:spPr>
        <p:txBody>
          <a:bodyPr wrap="square" lIns="0" tIns="0" rIns="0" bIns="0" rtlCol="0" anchor="ctr"/>
          <a:lstStyle/>
          <a:p>
            <a:pPr indent="0" marL="0">
              <a:lnSpc>
                <a:spcPts val="1600"/>
              </a:lnSpc>
              <a:buNone/>
            </a:pPr>
            <a:r>
              <a:rPr lang="en-US" sz="1200" dirty="0">
                <a:solidFill>
                  <a:srgbClr val="1B2733"/>
                </a:solidFill>
                <a:latin typeface="Calibri" pitchFamily="34" charset="0"/>
                <a:ea typeface="Calibri" pitchFamily="34" charset="-122"/>
                <a:cs typeface="Calibri" pitchFamily="34" charset="-120"/>
              </a:rPr>
              <a:t>More people live with HIV each year, so the care burden expands.</a:t>
            </a:r>
            <a:endParaRPr lang="en-US" sz="1200" dirty="0"/>
          </a:p>
        </p:txBody>
      </p:sp>
      <p:sp>
        <p:nvSpPr>
          <p:cNvPr id="45" name="Text 43"/>
          <p:cNvSpPr/>
          <p:nvPr/>
        </p:nvSpPr>
        <p:spPr>
          <a:xfrm>
            <a:off x="548640" y="5943600"/>
            <a:ext cx="11064240" cy="320040"/>
          </a:xfrm>
          <a:prstGeom prst="rect">
            <a:avLst/>
          </a:prstGeom>
          <a:noFill/>
          <a:ln/>
        </p:spPr>
        <p:txBody>
          <a:bodyPr wrap="square" lIns="0" tIns="0" rIns="0" bIns="0" rtlCol="0" anchor="ctr"/>
          <a:lstStyle/>
          <a:p>
            <a:pPr indent="0" marL="0">
              <a:buNone/>
            </a:pPr>
            <a:r>
              <a:rPr lang="en-US" sz="1000" i="1" dirty="0">
                <a:solidFill>
                  <a:srgbClr val="5A6B7B"/>
                </a:solidFill>
                <a:latin typeface="Calibri" pitchFamily="34" charset="0"/>
                <a:ea typeface="Calibri" pitchFamily="34" charset="-122"/>
                <a:cs typeface="Calibri" pitchFamily="34" charset="-120"/>
              </a:rPr>
              <a:t>Figures reflect the most recent reporting year (2024); the dashboard's cumulative card sums prevalence across all years.</a:t>
            </a:r>
            <a:endParaRPr lang="en-US" sz="1000" dirty="0"/>
          </a:p>
        </p:txBody>
      </p:sp>
      <p:sp>
        <p:nvSpPr>
          <p:cNvPr id="46" name="Text 44"/>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Business Questions Answered</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Every question in the project brief, addressed by the dashboard.</a:t>
            </a:r>
            <a:endParaRPr lang="en-US" sz="1450" dirty="0"/>
          </a:p>
        </p:txBody>
      </p:sp>
      <p:sp>
        <p:nvSpPr>
          <p:cNvPr id="5" name="Shape 3"/>
          <p:cNvSpPr/>
          <p:nvPr/>
        </p:nvSpPr>
        <p:spPr>
          <a:xfrm>
            <a:off x="548640" y="1572768"/>
            <a:ext cx="384048" cy="384048"/>
          </a:xfrm>
          <a:prstGeom prst="ellipse">
            <a:avLst/>
          </a:prstGeom>
          <a:solidFill>
            <a:srgbClr val="1F3A5F"/>
          </a:solidFill>
          <a:ln/>
        </p:spPr>
      </p:sp>
      <p:sp>
        <p:nvSpPr>
          <p:cNvPr id="6" name="Text 4"/>
          <p:cNvSpPr/>
          <p:nvPr/>
        </p:nvSpPr>
        <p:spPr>
          <a:xfrm>
            <a:off x="548640" y="1572768"/>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1</a:t>
            </a:r>
            <a:endParaRPr lang="en-US" sz="1300" dirty="0"/>
          </a:p>
        </p:txBody>
      </p:sp>
      <p:sp>
        <p:nvSpPr>
          <p:cNvPr id="7" name="Text 5"/>
          <p:cNvSpPr/>
          <p:nvPr/>
        </p:nvSpPr>
        <p:spPr>
          <a:xfrm>
            <a:off x="1051560" y="1499616"/>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How many new infections over time?</a:t>
            </a:r>
            <a:endParaRPr lang="en-US" sz="1200" dirty="0"/>
          </a:p>
        </p:txBody>
      </p:sp>
      <p:sp>
        <p:nvSpPr>
          <p:cNvPr id="8" name="Text 6"/>
          <p:cNvSpPr/>
          <p:nvPr/>
        </p:nvSpPr>
        <p:spPr>
          <a:xfrm>
            <a:off x="1051560" y="1783080"/>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Fell 59% — 2.40M (2000) → 0.98M (2024); now plateauing.</a:t>
            </a:r>
            <a:endParaRPr lang="en-US" sz="1050" dirty="0"/>
          </a:p>
        </p:txBody>
      </p:sp>
      <p:sp>
        <p:nvSpPr>
          <p:cNvPr id="9" name="Shape 7"/>
          <p:cNvSpPr/>
          <p:nvPr/>
        </p:nvSpPr>
        <p:spPr>
          <a:xfrm>
            <a:off x="548640" y="2295144"/>
            <a:ext cx="384048" cy="384048"/>
          </a:xfrm>
          <a:prstGeom prst="ellipse">
            <a:avLst/>
          </a:prstGeom>
          <a:solidFill>
            <a:srgbClr val="1F3A5F"/>
          </a:solidFill>
          <a:ln/>
        </p:spPr>
      </p:sp>
      <p:sp>
        <p:nvSpPr>
          <p:cNvPr id="10" name="Text 8"/>
          <p:cNvSpPr/>
          <p:nvPr/>
        </p:nvSpPr>
        <p:spPr>
          <a:xfrm>
            <a:off x="548640" y="2295144"/>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2</a:t>
            </a:r>
            <a:endParaRPr lang="en-US" sz="1300" dirty="0"/>
          </a:p>
        </p:txBody>
      </p:sp>
      <p:sp>
        <p:nvSpPr>
          <p:cNvPr id="11" name="Text 9"/>
          <p:cNvSpPr/>
          <p:nvPr/>
        </p:nvSpPr>
        <p:spPr>
          <a:xfrm>
            <a:off x="1051560" y="2221992"/>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Total HIV-related deaths globally?</a:t>
            </a:r>
            <a:endParaRPr lang="en-US" sz="1200" dirty="0"/>
          </a:p>
        </p:txBody>
      </p:sp>
      <p:sp>
        <p:nvSpPr>
          <p:cNvPr id="12" name="Text 10"/>
          <p:cNvSpPr/>
          <p:nvPr/>
        </p:nvSpPr>
        <p:spPr>
          <a:xfrm>
            <a:off x="1051560" y="2505456"/>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~523K in 2024; down ~70% from the 2004 peak.</a:t>
            </a:r>
            <a:endParaRPr lang="en-US" sz="1050" dirty="0"/>
          </a:p>
        </p:txBody>
      </p:sp>
      <p:sp>
        <p:nvSpPr>
          <p:cNvPr id="13" name="Shape 11"/>
          <p:cNvSpPr/>
          <p:nvPr/>
        </p:nvSpPr>
        <p:spPr>
          <a:xfrm>
            <a:off x="548640" y="3017520"/>
            <a:ext cx="384048" cy="384048"/>
          </a:xfrm>
          <a:prstGeom prst="ellipse">
            <a:avLst/>
          </a:prstGeom>
          <a:solidFill>
            <a:srgbClr val="1F3A5F"/>
          </a:solidFill>
          <a:ln/>
        </p:spPr>
      </p:sp>
      <p:sp>
        <p:nvSpPr>
          <p:cNvPr id="14" name="Text 12"/>
          <p:cNvSpPr/>
          <p:nvPr/>
        </p:nvSpPr>
        <p:spPr>
          <a:xfrm>
            <a:off x="548640" y="3017520"/>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3</a:t>
            </a:r>
            <a:endParaRPr lang="en-US" sz="1300" dirty="0"/>
          </a:p>
        </p:txBody>
      </p:sp>
      <p:sp>
        <p:nvSpPr>
          <p:cNvPr id="15" name="Text 13"/>
          <p:cNvSpPr/>
          <p:nvPr/>
        </p:nvSpPr>
        <p:spPr>
          <a:xfrm>
            <a:off x="1051560" y="2944368"/>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How many people living with HIV?</a:t>
            </a:r>
            <a:endParaRPr lang="en-US" sz="1200" dirty="0"/>
          </a:p>
        </p:txBody>
      </p:sp>
      <p:sp>
        <p:nvSpPr>
          <p:cNvPr id="16" name="Text 14"/>
          <p:cNvSpPr/>
          <p:nvPr/>
        </p:nvSpPr>
        <p:spPr>
          <a:xfrm>
            <a:off x="1051560" y="3227832"/>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~35.2M in the latest year and rising (chronic-condition effect).</a:t>
            </a:r>
            <a:endParaRPr lang="en-US" sz="1050" dirty="0"/>
          </a:p>
        </p:txBody>
      </p:sp>
      <p:sp>
        <p:nvSpPr>
          <p:cNvPr id="17" name="Shape 15"/>
          <p:cNvSpPr/>
          <p:nvPr/>
        </p:nvSpPr>
        <p:spPr>
          <a:xfrm>
            <a:off x="548640" y="3739896"/>
            <a:ext cx="384048" cy="384048"/>
          </a:xfrm>
          <a:prstGeom prst="ellipse">
            <a:avLst/>
          </a:prstGeom>
          <a:solidFill>
            <a:srgbClr val="1F3A5F"/>
          </a:solidFill>
          <a:ln/>
        </p:spPr>
      </p:sp>
      <p:sp>
        <p:nvSpPr>
          <p:cNvPr id="18" name="Text 16"/>
          <p:cNvSpPr/>
          <p:nvPr/>
        </p:nvSpPr>
        <p:spPr>
          <a:xfrm>
            <a:off x="548640" y="3739896"/>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4</a:t>
            </a:r>
            <a:endParaRPr lang="en-US" sz="1300" dirty="0"/>
          </a:p>
        </p:txBody>
      </p:sp>
      <p:sp>
        <p:nvSpPr>
          <p:cNvPr id="19" name="Text 17"/>
          <p:cNvSpPr/>
          <p:nvPr/>
        </p:nvSpPr>
        <p:spPr>
          <a:xfrm>
            <a:off x="1051560" y="3666744"/>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Overall treatment coverage?</a:t>
            </a:r>
            <a:endParaRPr lang="en-US" sz="1200" dirty="0"/>
          </a:p>
        </p:txBody>
      </p:sp>
      <p:sp>
        <p:nvSpPr>
          <p:cNvPr id="20" name="Text 18"/>
          <p:cNvSpPr/>
          <p:nvPr/>
        </p:nvSpPr>
        <p:spPr>
          <a:xfrm>
            <a:off x="1051560" y="3950208"/>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~66% average / ~79% PLHIV-weighted ART coverage (2024).</a:t>
            </a:r>
            <a:endParaRPr lang="en-US" sz="1050" dirty="0"/>
          </a:p>
        </p:txBody>
      </p:sp>
      <p:sp>
        <p:nvSpPr>
          <p:cNvPr id="21" name="Shape 19"/>
          <p:cNvSpPr/>
          <p:nvPr/>
        </p:nvSpPr>
        <p:spPr>
          <a:xfrm>
            <a:off x="548640" y="4462272"/>
            <a:ext cx="384048" cy="384048"/>
          </a:xfrm>
          <a:prstGeom prst="ellipse">
            <a:avLst/>
          </a:prstGeom>
          <a:solidFill>
            <a:srgbClr val="1F3A5F"/>
          </a:solidFill>
          <a:ln/>
        </p:spPr>
      </p:sp>
      <p:sp>
        <p:nvSpPr>
          <p:cNvPr id="22" name="Text 20"/>
          <p:cNvSpPr/>
          <p:nvPr/>
        </p:nvSpPr>
        <p:spPr>
          <a:xfrm>
            <a:off x="548640" y="4462272"/>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5</a:t>
            </a:r>
            <a:endParaRPr lang="en-US" sz="1300" dirty="0"/>
          </a:p>
        </p:txBody>
      </p:sp>
      <p:sp>
        <p:nvSpPr>
          <p:cNvPr id="23" name="Text 21"/>
          <p:cNvSpPr/>
          <p:nvPr/>
        </p:nvSpPr>
        <p:spPr>
          <a:xfrm>
            <a:off x="1051560" y="4389120"/>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Mortality &amp; survival rate?</a:t>
            </a:r>
            <a:endParaRPr lang="en-US" sz="1200" dirty="0"/>
          </a:p>
        </p:txBody>
      </p:sp>
      <p:sp>
        <p:nvSpPr>
          <p:cNvPr id="24" name="Text 22"/>
          <p:cNvSpPr/>
          <p:nvPr/>
        </p:nvSpPr>
        <p:spPr>
          <a:xfrm>
            <a:off x="1051560" y="4672584"/>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Death rate ≈ 1.49%; survival rate ≈ 98.51%.</a:t>
            </a:r>
            <a:endParaRPr lang="en-US" sz="1050" dirty="0"/>
          </a:p>
        </p:txBody>
      </p:sp>
      <p:sp>
        <p:nvSpPr>
          <p:cNvPr id="25" name="Shape 23"/>
          <p:cNvSpPr/>
          <p:nvPr/>
        </p:nvSpPr>
        <p:spPr>
          <a:xfrm>
            <a:off x="548640" y="5184648"/>
            <a:ext cx="384048" cy="384048"/>
          </a:xfrm>
          <a:prstGeom prst="ellipse">
            <a:avLst/>
          </a:prstGeom>
          <a:solidFill>
            <a:srgbClr val="1F3A5F"/>
          </a:solidFill>
          <a:ln/>
        </p:spPr>
      </p:sp>
      <p:sp>
        <p:nvSpPr>
          <p:cNvPr id="26" name="Text 24"/>
          <p:cNvSpPr/>
          <p:nvPr/>
        </p:nvSpPr>
        <p:spPr>
          <a:xfrm>
            <a:off x="548640" y="5184648"/>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6</a:t>
            </a:r>
            <a:endParaRPr lang="en-US" sz="1300" dirty="0"/>
          </a:p>
        </p:txBody>
      </p:sp>
      <p:sp>
        <p:nvSpPr>
          <p:cNvPr id="27" name="Text 25"/>
          <p:cNvSpPr/>
          <p:nvPr/>
        </p:nvSpPr>
        <p:spPr>
          <a:xfrm>
            <a:off x="1051560" y="5111496"/>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Highest deaths per 1,000 infections?</a:t>
            </a:r>
            <a:endParaRPr lang="en-US" sz="1200" dirty="0"/>
          </a:p>
        </p:txBody>
      </p:sp>
      <p:sp>
        <p:nvSpPr>
          <p:cNvPr id="28" name="Text 26"/>
          <p:cNvSpPr/>
          <p:nvPr/>
        </p:nvSpPr>
        <p:spPr>
          <a:xfrm>
            <a:off x="1051560" y="5394960"/>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Lesotho, Ethiopia, Malawi, Zimbabwe, Thailand.</a:t>
            </a:r>
            <a:endParaRPr lang="en-US" sz="1050" dirty="0"/>
          </a:p>
        </p:txBody>
      </p:sp>
      <p:sp>
        <p:nvSpPr>
          <p:cNvPr id="29" name="Shape 27"/>
          <p:cNvSpPr/>
          <p:nvPr/>
        </p:nvSpPr>
        <p:spPr>
          <a:xfrm>
            <a:off x="6172200" y="1572768"/>
            <a:ext cx="384048" cy="384048"/>
          </a:xfrm>
          <a:prstGeom prst="ellipse">
            <a:avLst/>
          </a:prstGeom>
          <a:solidFill>
            <a:srgbClr val="1F3A5F"/>
          </a:solidFill>
          <a:ln/>
        </p:spPr>
      </p:sp>
      <p:sp>
        <p:nvSpPr>
          <p:cNvPr id="30" name="Text 28"/>
          <p:cNvSpPr/>
          <p:nvPr/>
        </p:nvSpPr>
        <p:spPr>
          <a:xfrm>
            <a:off x="6172200" y="1572768"/>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7</a:t>
            </a:r>
            <a:endParaRPr lang="en-US" sz="1300" dirty="0"/>
          </a:p>
        </p:txBody>
      </p:sp>
      <p:sp>
        <p:nvSpPr>
          <p:cNvPr id="31" name="Text 29"/>
          <p:cNvSpPr/>
          <p:nvPr/>
        </p:nvSpPr>
        <p:spPr>
          <a:xfrm>
            <a:off x="6675120" y="1499616"/>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Infections vs deaths trend?</a:t>
            </a:r>
            <a:endParaRPr lang="en-US" sz="1200" dirty="0"/>
          </a:p>
        </p:txBody>
      </p:sp>
      <p:sp>
        <p:nvSpPr>
          <p:cNvPr id="32" name="Text 30"/>
          <p:cNvSpPr/>
          <p:nvPr/>
        </p:nvSpPr>
        <p:spPr>
          <a:xfrm>
            <a:off x="6675120" y="1783080"/>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Both falling; deaths have fallen faster than infections.</a:t>
            </a:r>
            <a:endParaRPr lang="en-US" sz="1050" dirty="0"/>
          </a:p>
        </p:txBody>
      </p:sp>
      <p:sp>
        <p:nvSpPr>
          <p:cNvPr id="33" name="Shape 31"/>
          <p:cNvSpPr/>
          <p:nvPr/>
        </p:nvSpPr>
        <p:spPr>
          <a:xfrm>
            <a:off x="6172200" y="2295144"/>
            <a:ext cx="384048" cy="384048"/>
          </a:xfrm>
          <a:prstGeom prst="ellipse">
            <a:avLst/>
          </a:prstGeom>
          <a:solidFill>
            <a:srgbClr val="1F3A5F"/>
          </a:solidFill>
          <a:ln/>
        </p:spPr>
      </p:sp>
      <p:sp>
        <p:nvSpPr>
          <p:cNvPr id="34" name="Text 32"/>
          <p:cNvSpPr/>
          <p:nvPr/>
        </p:nvSpPr>
        <p:spPr>
          <a:xfrm>
            <a:off x="6172200" y="2295144"/>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8</a:t>
            </a:r>
            <a:endParaRPr lang="en-US" sz="1300" dirty="0"/>
          </a:p>
        </p:txBody>
      </p:sp>
      <p:sp>
        <p:nvSpPr>
          <p:cNvPr id="35" name="Text 33"/>
          <p:cNvSpPr/>
          <p:nvPr/>
        </p:nvSpPr>
        <p:spPr>
          <a:xfrm>
            <a:off x="6675120" y="2221992"/>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Most affected regions?</a:t>
            </a:r>
            <a:endParaRPr lang="en-US" sz="1200" dirty="0"/>
          </a:p>
        </p:txBody>
      </p:sp>
      <p:sp>
        <p:nvSpPr>
          <p:cNvPr id="36" name="Text 34"/>
          <p:cNvSpPr/>
          <p:nvPr/>
        </p:nvSpPr>
        <p:spPr>
          <a:xfrm>
            <a:off x="6675120" y="2505456"/>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Africa (~75% of burden); top death rates in E. Mediterranean &amp; W. Pacific.</a:t>
            </a:r>
            <a:endParaRPr lang="en-US" sz="1050" dirty="0"/>
          </a:p>
        </p:txBody>
      </p:sp>
      <p:sp>
        <p:nvSpPr>
          <p:cNvPr id="37" name="Shape 35"/>
          <p:cNvSpPr/>
          <p:nvPr/>
        </p:nvSpPr>
        <p:spPr>
          <a:xfrm>
            <a:off x="6172200" y="3017520"/>
            <a:ext cx="384048" cy="384048"/>
          </a:xfrm>
          <a:prstGeom prst="ellipse">
            <a:avLst/>
          </a:prstGeom>
          <a:solidFill>
            <a:srgbClr val="1F3A5F"/>
          </a:solidFill>
          <a:ln/>
        </p:spPr>
      </p:sp>
      <p:sp>
        <p:nvSpPr>
          <p:cNvPr id="38" name="Text 36"/>
          <p:cNvSpPr/>
          <p:nvPr/>
        </p:nvSpPr>
        <p:spPr>
          <a:xfrm>
            <a:off x="6172200" y="3017520"/>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9</a:t>
            </a:r>
            <a:endParaRPr lang="en-US" sz="1300" dirty="0"/>
          </a:p>
        </p:txBody>
      </p:sp>
      <p:sp>
        <p:nvSpPr>
          <p:cNvPr id="39" name="Text 37"/>
          <p:cNvSpPr/>
          <p:nvPr/>
        </p:nvSpPr>
        <p:spPr>
          <a:xfrm>
            <a:off x="6675120" y="2944368"/>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Best treatment access?</a:t>
            </a:r>
            <a:endParaRPr lang="en-US" sz="1200" dirty="0"/>
          </a:p>
        </p:txBody>
      </p:sp>
      <p:sp>
        <p:nvSpPr>
          <p:cNvPr id="40" name="Text 38"/>
          <p:cNvSpPr/>
          <p:nvPr/>
        </p:nvSpPr>
        <p:spPr>
          <a:xfrm>
            <a:off x="6675120" y="3227832"/>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Rwanda, Botswana, Namibia, Zimbabwe, Eswatini, Zambia (90%+).</a:t>
            </a:r>
            <a:endParaRPr lang="en-US" sz="1050" dirty="0"/>
          </a:p>
        </p:txBody>
      </p:sp>
      <p:sp>
        <p:nvSpPr>
          <p:cNvPr id="41" name="Shape 39"/>
          <p:cNvSpPr/>
          <p:nvPr/>
        </p:nvSpPr>
        <p:spPr>
          <a:xfrm>
            <a:off x="6172200" y="3739896"/>
            <a:ext cx="384048" cy="384048"/>
          </a:xfrm>
          <a:prstGeom prst="ellipse">
            <a:avLst/>
          </a:prstGeom>
          <a:solidFill>
            <a:srgbClr val="1F3A5F"/>
          </a:solidFill>
          <a:ln/>
        </p:spPr>
      </p:sp>
      <p:sp>
        <p:nvSpPr>
          <p:cNvPr id="42" name="Text 40"/>
          <p:cNvSpPr/>
          <p:nvPr/>
        </p:nvSpPr>
        <p:spPr>
          <a:xfrm>
            <a:off x="6172200" y="3739896"/>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10</a:t>
            </a:r>
            <a:endParaRPr lang="en-US" sz="1300" dirty="0"/>
          </a:p>
        </p:txBody>
      </p:sp>
      <p:sp>
        <p:nvSpPr>
          <p:cNvPr id="43" name="Text 41"/>
          <p:cNvSpPr/>
          <p:nvPr/>
        </p:nvSpPr>
        <p:spPr>
          <a:xfrm>
            <a:off x="6675120" y="3666744"/>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Do high-infection countries have cover?</a:t>
            </a:r>
            <a:endParaRPr lang="en-US" sz="1200" dirty="0"/>
          </a:p>
        </p:txBody>
      </p:sp>
      <p:sp>
        <p:nvSpPr>
          <p:cNvPr id="44" name="Text 42"/>
          <p:cNvSpPr/>
          <p:nvPr/>
        </p:nvSpPr>
        <p:spPr>
          <a:xfrm>
            <a:off x="6675120" y="3950208"/>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Mostly yes (S. Africa, Nigeria 80%+) — but Indonesia 41%, Philippines 40% lag.</a:t>
            </a:r>
            <a:endParaRPr lang="en-US" sz="1050" dirty="0"/>
          </a:p>
        </p:txBody>
      </p:sp>
      <p:sp>
        <p:nvSpPr>
          <p:cNvPr id="45" name="Shape 43"/>
          <p:cNvSpPr/>
          <p:nvPr/>
        </p:nvSpPr>
        <p:spPr>
          <a:xfrm>
            <a:off x="6172200" y="4462272"/>
            <a:ext cx="384048" cy="384048"/>
          </a:xfrm>
          <a:prstGeom prst="ellipse">
            <a:avLst/>
          </a:prstGeom>
          <a:solidFill>
            <a:srgbClr val="1F3A5F"/>
          </a:solidFill>
          <a:ln/>
        </p:spPr>
      </p:sp>
      <p:sp>
        <p:nvSpPr>
          <p:cNvPr id="46" name="Text 44"/>
          <p:cNvSpPr/>
          <p:nvPr/>
        </p:nvSpPr>
        <p:spPr>
          <a:xfrm>
            <a:off x="6172200" y="4462272"/>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11</a:t>
            </a:r>
            <a:endParaRPr lang="en-US" sz="1300" dirty="0"/>
          </a:p>
        </p:txBody>
      </p:sp>
      <p:sp>
        <p:nvSpPr>
          <p:cNvPr id="47" name="Text 45"/>
          <p:cNvSpPr/>
          <p:nvPr/>
        </p:nvSpPr>
        <p:spPr>
          <a:xfrm>
            <a:off x="6675120" y="4389120"/>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ART coverage vs mortality?</a:t>
            </a:r>
            <a:endParaRPr lang="en-US" sz="1200" dirty="0"/>
          </a:p>
        </p:txBody>
      </p:sp>
      <p:sp>
        <p:nvSpPr>
          <p:cNvPr id="48" name="Text 46"/>
          <p:cNvSpPr/>
          <p:nvPr/>
        </p:nvSpPr>
        <p:spPr>
          <a:xfrm>
            <a:off x="6675120" y="4672584"/>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Negative correlation (r ≈ −0.48): more coverage, lower mortality.</a:t>
            </a:r>
            <a:endParaRPr lang="en-US" sz="1050" dirty="0"/>
          </a:p>
        </p:txBody>
      </p:sp>
      <p:sp>
        <p:nvSpPr>
          <p:cNvPr id="49" name="Shape 47"/>
          <p:cNvSpPr/>
          <p:nvPr/>
        </p:nvSpPr>
        <p:spPr>
          <a:xfrm>
            <a:off x="6172200" y="5184648"/>
            <a:ext cx="384048" cy="384048"/>
          </a:xfrm>
          <a:prstGeom prst="ellipse">
            <a:avLst/>
          </a:prstGeom>
          <a:solidFill>
            <a:srgbClr val="1F3A5F"/>
          </a:solidFill>
          <a:ln/>
        </p:spPr>
      </p:sp>
      <p:sp>
        <p:nvSpPr>
          <p:cNvPr id="50" name="Text 48"/>
          <p:cNvSpPr/>
          <p:nvPr/>
        </p:nvSpPr>
        <p:spPr>
          <a:xfrm>
            <a:off x="6172200" y="5184648"/>
            <a:ext cx="384048" cy="384048"/>
          </a:xfrm>
          <a:prstGeom prst="rect">
            <a:avLst/>
          </a:prstGeom>
          <a:noFill/>
          <a:ln/>
        </p:spPr>
        <p:txBody>
          <a:bodyPr wrap="square" lIns="0" tIns="0" rIns="0" bIns="0" rtlCol="0" anchor="ctr"/>
          <a:lstStyle/>
          <a:p>
            <a:pPr algn="ctr" indent="0" marL="0">
              <a:buNone/>
            </a:pPr>
            <a:r>
              <a:rPr lang="en-US" sz="1300" b="1" dirty="0">
                <a:solidFill>
                  <a:srgbClr val="E07B1C"/>
                </a:solidFill>
                <a:latin typeface="Georgia" pitchFamily="34" charset="0"/>
                <a:ea typeface="Georgia" pitchFamily="34" charset="-122"/>
                <a:cs typeface="Georgia" pitchFamily="34" charset="-120"/>
              </a:rPr>
              <a:t>12</a:t>
            </a:r>
            <a:endParaRPr lang="en-US" sz="1300" dirty="0"/>
          </a:p>
        </p:txBody>
      </p:sp>
      <p:sp>
        <p:nvSpPr>
          <p:cNvPr id="51" name="Text 49"/>
          <p:cNvSpPr/>
          <p:nvPr/>
        </p:nvSpPr>
        <p:spPr>
          <a:xfrm>
            <a:off x="6675120" y="5111496"/>
            <a:ext cx="4983480" cy="310896"/>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Most at-risk countries?</a:t>
            </a:r>
            <a:endParaRPr lang="en-US" sz="1200" dirty="0"/>
          </a:p>
        </p:txBody>
      </p:sp>
      <p:sp>
        <p:nvSpPr>
          <p:cNvPr id="52" name="Text 50"/>
          <p:cNvSpPr/>
          <p:nvPr/>
        </p:nvSpPr>
        <p:spPr>
          <a:xfrm>
            <a:off x="6675120" y="5394960"/>
            <a:ext cx="4983480" cy="457200"/>
          </a:xfrm>
          <a:prstGeom prst="rect">
            <a:avLst/>
          </a:prstGeom>
          <a:noFill/>
          <a:ln/>
        </p:spPr>
        <p:txBody>
          <a:bodyPr wrap="square" lIns="0" tIns="0" rIns="0" bIns="0" rtlCol="0" anchor="t"/>
          <a:lstStyle/>
          <a:p>
            <a:pPr indent="0" marL="0">
              <a:lnSpc>
                <a:spcPts val="1200"/>
              </a:lnSpc>
              <a:buNone/>
            </a:pPr>
            <a:r>
              <a:rPr lang="en-US" sz="1050" dirty="0">
                <a:solidFill>
                  <a:srgbClr val="1B2733"/>
                </a:solidFill>
                <a:latin typeface="Calibri" pitchFamily="34" charset="0"/>
                <a:ea typeface="Calibri" pitchFamily="34" charset="-122"/>
                <a:cs typeface="Calibri" pitchFamily="34" charset="-120"/>
              </a:rPr>
              <a:t>Pakistan 16%, Sudan 20%, Madagascar 29%, Congo 34%, Indonesia 41%.</a:t>
            </a:r>
            <a:endParaRPr lang="en-US" sz="1050" dirty="0"/>
          </a:p>
        </p:txBody>
      </p:sp>
      <p:sp>
        <p:nvSpPr>
          <p:cNvPr id="53" name="Text 51"/>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Are infections truly declining?</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Both new infections and deaths have fallen sharply — but the decline is flattening.</a:t>
            </a:r>
            <a:endParaRPr lang="en-US" sz="1450" dirty="0"/>
          </a:p>
        </p:txBody>
      </p:sp>
      <p:pic>
        <p:nvPicPr>
          <p:cNvPr id="5" name="Image 0" descr="charts/c1_trend.png">    </p:cNvPr>
          <p:cNvPicPr>
            <a:picLocks noChangeAspect="1"/>
          </p:cNvPicPr>
          <p:nvPr/>
        </p:nvPicPr>
        <p:blipFill>
          <a:blip r:embed="rId1"/>
          <a:stretch>
            <a:fillRect/>
          </a:stretch>
        </p:blipFill>
        <p:spPr>
          <a:xfrm>
            <a:off x="502920" y="1645920"/>
            <a:ext cx="6949440" cy="3909060"/>
          </a:xfrm>
          <a:prstGeom prst="rect">
            <a:avLst/>
          </a:prstGeom>
        </p:spPr>
      </p:pic>
      <p:sp>
        <p:nvSpPr>
          <p:cNvPr id="6" name="Shape 3"/>
          <p:cNvSpPr/>
          <p:nvPr/>
        </p:nvSpPr>
        <p:spPr>
          <a:xfrm>
            <a:off x="7772400" y="1783080"/>
            <a:ext cx="3840480" cy="4297680"/>
          </a:xfrm>
          <a:prstGeom prst="rect">
            <a:avLst/>
          </a:prstGeom>
          <a:solidFill>
            <a:srgbClr val="F4F6F8"/>
          </a:solidFill>
          <a:ln w="12700">
            <a:solidFill>
              <a:srgbClr val="E0E6EC"/>
            </a:solidFill>
            <a:prstDash val="solid"/>
          </a:ln>
        </p:spPr>
      </p:sp>
      <p:sp>
        <p:nvSpPr>
          <p:cNvPr id="7" name="Text 4"/>
          <p:cNvSpPr/>
          <p:nvPr/>
        </p:nvSpPr>
        <p:spPr>
          <a:xfrm>
            <a:off x="8046720" y="2011680"/>
            <a:ext cx="3291840" cy="411480"/>
          </a:xfrm>
          <a:prstGeom prst="rect">
            <a:avLst/>
          </a:prstGeom>
          <a:noFill/>
          <a:ln/>
        </p:spPr>
        <p:txBody>
          <a:bodyPr wrap="square" lIns="0" tIns="0" rIns="0" bIns="0" rtlCol="0" anchor="ctr"/>
          <a:lstStyle/>
          <a:p>
            <a:pPr indent="0" marL="0">
              <a:buNone/>
            </a:pPr>
            <a:r>
              <a:rPr lang="en-US" sz="1800" b="1" dirty="0">
                <a:solidFill>
                  <a:srgbClr val="C2641A"/>
                </a:solidFill>
                <a:latin typeface="Georgia" pitchFamily="34" charset="0"/>
                <a:ea typeface="Georgia" pitchFamily="34" charset="-122"/>
                <a:cs typeface="Georgia" pitchFamily="34" charset="-120"/>
              </a:rPr>
              <a:t>What the data says</a:t>
            </a:r>
            <a:endParaRPr lang="en-US" sz="1800" dirty="0"/>
          </a:p>
        </p:txBody>
      </p:sp>
      <p:sp>
        <p:nvSpPr>
          <p:cNvPr id="8" name="Text 5"/>
          <p:cNvSpPr/>
          <p:nvPr/>
        </p:nvSpPr>
        <p:spPr>
          <a:xfrm>
            <a:off x="8046720" y="2514600"/>
            <a:ext cx="3291840" cy="2103120"/>
          </a:xfrm>
          <a:prstGeom prst="rect">
            <a:avLst/>
          </a:prstGeom>
          <a:noFill/>
          <a:ln/>
        </p:spPr>
        <p:txBody>
          <a:bodyPr wrap="square" lIns="0" tIns="0" rIns="0" bIns="0" rtlCol="0" anchor="t"/>
          <a:lstStyle/>
          <a:p>
            <a:pPr indent="0" marL="0">
              <a:spcAft>
                <a:spcPts val="600"/>
              </a:spcAft>
              <a:buNone/>
            </a:pPr>
            <a:r>
              <a:rPr lang="en-US" sz="1400" b="1" dirty="0">
                <a:solidFill>
                  <a:srgbClr val="1F3A5F"/>
                </a:solidFill>
                <a:latin typeface="Calibri" pitchFamily="34" charset="0"/>
                <a:ea typeface="Calibri" pitchFamily="34" charset="-122"/>
                <a:cs typeface="Calibri" pitchFamily="34" charset="-120"/>
              </a:rPr>
              <a:t>2.40M → 0.98M new infections</a:t>
            </a:r>
            <a:endParaRPr lang="en-US" sz="1400" dirty="0"/>
          </a:p>
          <a:p>
            <a:pPr indent="0" marL="0">
              <a:spcAft>
                <a:spcPts val="600"/>
              </a:spcAft>
              <a:buNone/>
            </a:pPr>
            <a:r>
              <a:rPr lang="en-US" sz="1300" dirty="0">
                <a:solidFill>
                  <a:srgbClr val="1B2733"/>
                </a:solidFill>
                <a:latin typeface="Calibri" pitchFamily="34" charset="0"/>
                <a:ea typeface="Calibri" pitchFamily="34" charset="-122"/>
                <a:cs typeface="Calibri" pitchFamily="34" charset="-120"/>
              </a:rPr>
              <a:t>a 59% drop since 2000.
</a:t>
            </a:r>
            <a:endParaRPr lang="en-US" sz="1400" dirty="0"/>
          </a:p>
          <a:p>
            <a:pPr indent="0" marL="0">
              <a:spcAft>
                <a:spcPts val="600"/>
              </a:spcAft>
              <a:buNone/>
            </a:pPr>
            <a:r>
              <a:rPr lang="en-US" sz="1300" dirty="0">
                <a:solidFill>
                  <a:srgbClr val="1B2733"/>
                </a:solidFill>
                <a:latin typeface="Calibri" pitchFamily="34" charset="0"/>
                <a:ea typeface="Calibri" pitchFamily="34" charset="-122"/>
                <a:cs typeface="Calibri" pitchFamily="34" charset="-120"/>
              </a:rPr>
              <a:t>Deaths down ~70% from the 2004 peak.
</a:t>
            </a:r>
            <a:endParaRPr lang="en-US" sz="1400" dirty="0"/>
          </a:p>
          <a:p>
            <a:pPr indent="0" marL="0">
              <a:spcAft>
                <a:spcPts val="600"/>
              </a:spcAft>
              <a:buNone/>
            </a:pPr>
            <a:r>
              <a:rPr lang="en-US" sz="1350" b="1" dirty="0">
                <a:solidFill>
                  <a:srgbClr val="C0392B"/>
                </a:solidFill>
                <a:latin typeface="Calibri" pitchFamily="34" charset="0"/>
                <a:ea typeface="Calibri" pitchFamily="34" charset="-122"/>
                <a:cs typeface="Calibri" pitchFamily="34" charset="-120"/>
              </a:rPr>
              <a:t>BUT 2023→2024 was almost flat (+0.25%).</a:t>
            </a:r>
            <a:endParaRPr lang="en-US" sz="1400" dirty="0"/>
          </a:p>
        </p:txBody>
      </p:sp>
      <p:sp>
        <p:nvSpPr>
          <p:cNvPr id="9" name="Text 6"/>
          <p:cNvSpPr/>
          <p:nvPr/>
        </p:nvSpPr>
        <p:spPr>
          <a:xfrm>
            <a:off x="8046720" y="5029200"/>
            <a:ext cx="3291840" cy="91440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Prevention gains are plateauing — renewed effort is needed to keep the curve falling.</a:t>
            </a:r>
            <a:endParaRPr lang="en-US" sz="1250" dirty="0"/>
          </a:p>
        </p:txBody>
      </p:sp>
      <p:sp>
        <p:nvSpPr>
          <p:cNvPr id="10" name="Text 7"/>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A success that creates a new challenge</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As deaths fall, more people live with HIV — driven by a ten-fold rise in treatment access.</a:t>
            </a:r>
            <a:endParaRPr lang="en-US" sz="1450" dirty="0"/>
          </a:p>
        </p:txBody>
      </p:sp>
      <p:pic>
        <p:nvPicPr>
          <p:cNvPr id="5" name="Image 0" descr="charts/c2_plhiv.png">    </p:cNvPr>
          <p:cNvPicPr>
            <a:picLocks noChangeAspect="1"/>
          </p:cNvPicPr>
          <p:nvPr/>
        </p:nvPicPr>
        <p:blipFill>
          <a:blip r:embed="rId1"/>
          <a:stretch>
            <a:fillRect/>
          </a:stretch>
        </p:blipFill>
        <p:spPr>
          <a:xfrm>
            <a:off x="457200" y="1645920"/>
            <a:ext cx="5577840" cy="3137535"/>
          </a:xfrm>
          <a:prstGeom prst="rect">
            <a:avLst/>
          </a:prstGeom>
        </p:spPr>
      </p:pic>
      <p:pic>
        <p:nvPicPr>
          <p:cNvPr id="6" name="Image 1" descr="charts/c3_art.png">    </p:cNvPr>
          <p:cNvPicPr>
            <a:picLocks noChangeAspect="1"/>
          </p:cNvPicPr>
          <p:nvPr/>
        </p:nvPicPr>
        <p:blipFill>
          <a:blip r:embed="rId2"/>
          <a:stretch>
            <a:fillRect/>
          </a:stretch>
        </p:blipFill>
        <p:spPr>
          <a:xfrm>
            <a:off x="6217920" y="1645920"/>
            <a:ext cx="5577840" cy="3137535"/>
          </a:xfrm>
          <a:prstGeom prst="rect">
            <a:avLst/>
          </a:prstGeom>
        </p:spPr>
      </p:pic>
      <p:sp>
        <p:nvSpPr>
          <p:cNvPr id="7" name="Shape 3"/>
          <p:cNvSpPr/>
          <p:nvPr/>
        </p:nvSpPr>
        <p:spPr>
          <a:xfrm>
            <a:off x="548640" y="5029200"/>
            <a:ext cx="11064240" cy="1371600"/>
          </a:xfrm>
          <a:prstGeom prst="rect">
            <a:avLst/>
          </a:prstGeom>
          <a:solidFill>
            <a:srgbClr val="1F3A5F"/>
          </a:solidFill>
          <a:ln/>
        </p:spPr>
      </p:sp>
      <p:sp>
        <p:nvSpPr>
          <p:cNvPr id="8" name="Text 4"/>
          <p:cNvSpPr/>
          <p:nvPr/>
        </p:nvSpPr>
        <p:spPr>
          <a:xfrm>
            <a:off x="914400" y="5138928"/>
            <a:ext cx="10424160" cy="1143000"/>
          </a:xfrm>
          <a:prstGeom prst="rect">
            <a:avLst/>
          </a:prstGeom>
          <a:noFill/>
          <a:ln/>
        </p:spPr>
        <p:txBody>
          <a:bodyPr wrap="square" lIns="0" tIns="0" rIns="0" bIns="0" rtlCol="0" anchor="ctr"/>
          <a:lstStyle/>
          <a:p>
            <a:pPr indent="0" marL="0">
              <a:lnSpc>
                <a:spcPts val="1800"/>
              </a:lnSpc>
              <a:buNone/>
            </a:pPr>
            <a:r>
              <a:rPr lang="en-US" sz="1350" b="1" dirty="0">
                <a:solidFill>
                  <a:srgbClr val="E07B1C"/>
                </a:solidFill>
                <a:latin typeface="Calibri" pitchFamily="34" charset="0"/>
                <a:ea typeface="Calibri" pitchFamily="34" charset="-122"/>
                <a:cs typeface="Calibri" pitchFamily="34" charset="-120"/>
              </a:rPr>
              <a:t>The chronic-condition signature.  </a:t>
            </a:r>
            <a:pPr indent="0" marL="0">
              <a:lnSpc>
                <a:spcPts val="1800"/>
              </a:lnSpc>
              <a:buNone/>
            </a:pPr>
            <a:r>
              <a:rPr lang="en-US" sz="1350" dirty="0">
                <a:solidFill>
                  <a:srgbClr val="FFFFFF"/>
                </a:solidFill>
                <a:latin typeface="Calibri" pitchFamily="34" charset="0"/>
                <a:ea typeface="Calibri" pitchFamily="34" charset="-122"/>
                <a:cs typeface="Calibri" pitchFamily="34" charset="-120"/>
              </a:rPr>
              <a:t>People living with HIV climbed from 22M (2000) to 35.2M (2024) because ART now keeps people alive — average coverage rose from 7% to 66%. The mortality win is real, but it locks in a permanent, growing need for lifelong treatment and financing.</a:t>
            </a:r>
            <a:endParaRPr lang="en-US" sz="1350" dirty="0"/>
          </a:p>
        </p:txBody>
      </p:sp>
      <p:sp>
        <p:nvSpPr>
          <p:cNvPr id="9" name="Text 5"/>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Does treatment reduce mortality?</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Across 108 countries, higher ART coverage is associated with lower death rates.</a:t>
            </a:r>
            <a:endParaRPr lang="en-US" sz="1450" dirty="0"/>
          </a:p>
        </p:txBody>
      </p:sp>
      <p:pic>
        <p:nvPicPr>
          <p:cNvPr id="5" name="Image 0" descr="charts/c6_corr.png">    </p:cNvPr>
          <p:cNvPicPr>
            <a:picLocks noChangeAspect="1"/>
          </p:cNvPicPr>
          <p:nvPr/>
        </p:nvPicPr>
        <p:blipFill>
          <a:blip r:embed="rId1"/>
          <a:stretch>
            <a:fillRect/>
          </a:stretch>
        </p:blipFill>
        <p:spPr>
          <a:xfrm>
            <a:off x="502920" y="1645920"/>
            <a:ext cx="7132320" cy="4279392"/>
          </a:xfrm>
          <a:prstGeom prst="rect">
            <a:avLst/>
          </a:prstGeom>
        </p:spPr>
      </p:pic>
      <p:sp>
        <p:nvSpPr>
          <p:cNvPr id="6" name="Shape 3"/>
          <p:cNvSpPr/>
          <p:nvPr/>
        </p:nvSpPr>
        <p:spPr>
          <a:xfrm>
            <a:off x="8915400" y="1828800"/>
            <a:ext cx="1737360" cy="1737360"/>
          </a:xfrm>
          <a:prstGeom prst="ellipse">
            <a:avLst/>
          </a:prstGeom>
          <a:solidFill>
            <a:srgbClr val="F4F6F8"/>
          </a:solidFill>
          <a:ln w="38100">
            <a:solidFill>
              <a:srgbClr val="2A9D8F"/>
            </a:solidFill>
            <a:prstDash val="solid"/>
          </a:ln>
        </p:spPr>
      </p:sp>
      <p:sp>
        <p:nvSpPr>
          <p:cNvPr id="7" name="Text 4"/>
          <p:cNvSpPr/>
          <p:nvPr/>
        </p:nvSpPr>
        <p:spPr>
          <a:xfrm>
            <a:off x="8915400" y="2011680"/>
            <a:ext cx="1737360" cy="457200"/>
          </a:xfrm>
          <a:prstGeom prst="rect">
            <a:avLst/>
          </a:prstGeom>
          <a:noFill/>
          <a:ln/>
        </p:spPr>
        <p:txBody>
          <a:bodyPr wrap="square" lIns="0" tIns="0" rIns="0" bIns="0" rtlCol="0" anchor="ctr"/>
          <a:lstStyle/>
          <a:p>
            <a:pPr algn="ctr" indent="0" marL="0">
              <a:buNone/>
            </a:pPr>
            <a:r>
              <a:rPr lang="en-US" sz="1600" dirty="0">
                <a:solidFill>
                  <a:srgbClr val="5A6B7B"/>
                </a:solidFill>
                <a:latin typeface="Calibri" pitchFamily="34" charset="0"/>
                <a:ea typeface="Calibri" pitchFamily="34" charset="-122"/>
                <a:cs typeface="Calibri" pitchFamily="34" charset="-120"/>
              </a:rPr>
              <a:t>r ≈</a:t>
            </a:r>
            <a:endParaRPr lang="en-US" sz="1600" dirty="0"/>
          </a:p>
        </p:txBody>
      </p:sp>
      <p:sp>
        <p:nvSpPr>
          <p:cNvPr id="8" name="Text 5"/>
          <p:cNvSpPr/>
          <p:nvPr/>
        </p:nvSpPr>
        <p:spPr>
          <a:xfrm>
            <a:off x="8915400" y="2331720"/>
            <a:ext cx="1737360" cy="822960"/>
          </a:xfrm>
          <a:prstGeom prst="rect">
            <a:avLst/>
          </a:prstGeom>
          <a:noFill/>
          <a:ln/>
        </p:spPr>
        <p:txBody>
          <a:bodyPr wrap="square" lIns="0" tIns="0" rIns="0" bIns="0" rtlCol="0" anchor="ctr"/>
          <a:lstStyle/>
          <a:p>
            <a:pPr algn="ctr" indent="0" marL="0">
              <a:buNone/>
            </a:pPr>
            <a:r>
              <a:rPr lang="en-US" sz="3600" b="1" dirty="0">
                <a:solidFill>
                  <a:srgbClr val="2A9D8F"/>
                </a:solidFill>
                <a:latin typeface="Georgia" pitchFamily="34" charset="0"/>
                <a:ea typeface="Georgia" pitchFamily="34" charset="-122"/>
                <a:cs typeface="Georgia" pitchFamily="34" charset="-120"/>
              </a:rPr>
              <a:t>−0.48</a:t>
            </a:r>
            <a:endParaRPr lang="en-US" sz="3600" dirty="0"/>
          </a:p>
        </p:txBody>
      </p:sp>
      <p:sp>
        <p:nvSpPr>
          <p:cNvPr id="9" name="Text 6"/>
          <p:cNvSpPr/>
          <p:nvPr/>
        </p:nvSpPr>
        <p:spPr>
          <a:xfrm>
            <a:off x="7955280" y="3657600"/>
            <a:ext cx="3657600" cy="365760"/>
          </a:xfrm>
          <a:prstGeom prst="rect">
            <a:avLst/>
          </a:prstGeom>
          <a:noFill/>
          <a:ln/>
        </p:spPr>
        <p:txBody>
          <a:bodyPr wrap="square" lIns="0" tIns="0" rIns="0" bIns="0" rtlCol="0" anchor="ctr"/>
          <a:lstStyle/>
          <a:p>
            <a:pPr algn="ctr" indent="0" marL="0">
              <a:buNone/>
            </a:pPr>
            <a:r>
              <a:rPr lang="en-US" sz="1300" i="1" dirty="0">
                <a:solidFill>
                  <a:srgbClr val="5A6B7B"/>
                </a:solidFill>
                <a:latin typeface="Calibri" pitchFamily="34" charset="0"/>
                <a:ea typeface="Calibri" pitchFamily="34" charset="-122"/>
                <a:cs typeface="Calibri" pitchFamily="34" charset="-120"/>
              </a:rPr>
              <a:t>negative correlation</a:t>
            </a:r>
            <a:endParaRPr lang="en-US" sz="1300" dirty="0"/>
          </a:p>
        </p:txBody>
      </p:sp>
      <p:sp>
        <p:nvSpPr>
          <p:cNvPr id="10" name="Text 7"/>
          <p:cNvSpPr/>
          <p:nvPr/>
        </p:nvSpPr>
        <p:spPr>
          <a:xfrm>
            <a:off x="7955280" y="4206240"/>
            <a:ext cx="3657600" cy="1828800"/>
          </a:xfrm>
          <a:prstGeom prst="rect">
            <a:avLst/>
          </a:prstGeom>
          <a:noFill/>
          <a:ln/>
        </p:spPr>
        <p:txBody>
          <a:bodyPr wrap="square" lIns="0" tIns="0" rIns="0" bIns="0" rtlCol="0" anchor="ctr"/>
          <a:lstStyle/>
          <a:p>
            <a:pPr indent="0" marL="0">
              <a:lnSpc>
                <a:spcPts val="1900"/>
              </a:lnSpc>
              <a:buNone/>
            </a:pPr>
            <a:r>
              <a:rPr lang="en-US" sz="1350" dirty="0">
                <a:solidFill>
                  <a:srgbClr val="1B2733"/>
                </a:solidFill>
                <a:latin typeface="Calibri" pitchFamily="34" charset="0"/>
                <a:ea typeface="Calibri" pitchFamily="34" charset="-122"/>
                <a:cs typeface="Calibri" pitchFamily="34" charset="-120"/>
              </a:rPr>
              <a:t>This is the core evidence that treatment programmes save lives. The link is moderate — outcomes also depend on early diagnosis, adherence and health-system quality — but the direction is unmistakable.</a:t>
            </a:r>
            <a:endParaRPr lang="en-US" sz="1350" dirty="0"/>
          </a:p>
        </p:txBody>
      </p:sp>
      <p:sp>
        <p:nvSpPr>
          <p:cNvPr id="11" name="Text 8"/>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The geography of the epidemic</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Africa carries ~75% of the burden — but the highest death rates sit elsewhere.</a:t>
            </a:r>
            <a:endParaRPr lang="en-US" sz="1450" dirty="0"/>
          </a:p>
        </p:txBody>
      </p:sp>
      <p:pic>
        <p:nvPicPr>
          <p:cNvPr id="5" name="Image 0" descr="charts/c5_region.png">    </p:cNvPr>
          <p:cNvPicPr>
            <a:picLocks noChangeAspect="1"/>
          </p:cNvPicPr>
          <p:nvPr/>
        </p:nvPicPr>
        <p:blipFill>
          <a:blip r:embed="rId1"/>
          <a:stretch>
            <a:fillRect/>
          </a:stretch>
        </p:blipFill>
        <p:spPr>
          <a:xfrm>
            <a:off x="457200" y="1645920"/>
            <a:ext cx="5852160" cy="3304749"/>
          </a:xfrm>
          <a:prstGeom prst="rect">
            <a:avLst/>
          </a:prstGeom>
        </p:spPr>
      </p:pic>
      <p:pic>
        <p:nvPicPr>
          <p:cNvPr id="6" name="Image 1" descr="charts/c4_top10.png">    </p:cNvPr>
          <p:cNvPicPr>
            <a:picLocks noChangeAspect="1"/>
          </p:cNvPicPr>
          <p:nvPr/>
        </p:nvPicPr>
        <p:blipFill>
          <a:blip r:embed="rId2"/>
          <a:stretch>
            <a:fillRect/>
          </a:stretch>
        </p:blipFill>
        <p:spPr>
          <a:xfrm>
            <a:off x="6400800" y="1645920"/>
            <a:ext cx="5394960" cy="3236976"/>
          </a:xfrm>
          <a:prstGeom prst="rect">
            <a:avLst/>
          </a:prstGeom>
        </p:spPr>
      </p:pic>
      <p:sp>
        <p:nvSpPr>
          <p:cNvPr id="7" name="Shape 3"/>
          <p:cNvSpPr/>
          <p:nvPr/>
        </p:nvSpPr>
        <p:spPr>
          <a:xfrm>
            <a:off x="548640" y="5166360"/>
            <a:ext cx="11064240" cy="1234440"/>
          </a:xfrm>
          <a:prstGeom prst="rect">
            <a:avLst/>
          </a:prstGeom>
          <a:solidFill>
            <a:srgbClr val="F4F6F8"/>
          </a:solidFill>
          <a:ln w="12700">
            <a:solidFill>
              <a:srgbClr val="E0E6EC"/>
            </a:solidFill>
            <a:prstDash val="solid"/>
          </a:ln>
        </p:spPr>
      </p:sp>
      <p:sp>
        <p:nvSpPr>
          <p:cNvPr id="8" name="Text 4"/>
          <p:cNvSpPr/>
          <p:nvPr/>
        </p:nvSpPr>
        <p:spPr>
          <a:xfrm>
            <a:off x="868680" y="5285232"/>
            <a:ext cx="10424160" cy="1005840"/>
          </a:xfrm>
          <a:prstGeom prst="rect">
            <a:avLst/>
          </a:prstGeom>
          <a:noFill/>
          <a:ln/>
        </p:spPr>
        <p:txBody>
          <a:bodyPr wrap="square" lIns="0" tIns="0" rIns="0" bIns="0" rtlCol="0" anchor="ctr"/>
          <a:lstStyle/>
          <a:p>
            <a:pPr indent="0" marL="0">
              <a:lnSpc>
                <a:spcPts val="1800"/>
              </a:lnSpc>
              <a:buNone/>
            </a:pPr>
            <a:r>
              <a:rPr lang="en-US" sz="1350" b="1" dirty="0">
                <a:solidFill>
                  <a:srgbClr val="C2641A"/>
                </a:solidFill>
                <a:latin typeface="Calibri" pitchFamily="34" charset="0"/>
                <a:ea typeface="Calibri" pitchFamily="34" charset="-122"/>
                <a:cs typeface="Calibri" pitchFamily="34" charset="-120"/>
              </a:rPr>
              <a:t>Burden ≠ death rate.  </a:t>
            </a:r>
            <a:pPr indent="0" marL="0">
              <a:lnSpc>
                <a:spcPts val="1800"/>
              </a:lnSpc>
              <a:buNone/>
            </a:pPr>
            <a:r>
              <a:rPr lang="en-US" sz="1350" dirty="0">
                <a:solidFill>
                  <a:srgbClr val="1B2733"/>
                </a:solidFill>
                <a:latin typeface="Calibri" pitchFamily="34" charset="0"/>
                <a:ea typeface="Calibri" pitchFamily="34" charset="-122"/>
                <a:cs typeface="Calibri" pitchFamily="34" charset="-120"/>
              </a:rPr>
              <a:t>Africa leads on absolute burden (26.3M living with HIV, led by South Africa at 7.8M). Yet the Eastern Mediterranean (3.81%) and Western Pacific (2.71%) post the highest death rates — regions where treatment access lags the size of the epidemic.</a:t>
            </a:r>
            <a:endParaRPr lang="en-US" sz="1350" dirty="0"/>
          </a:p>
        </p:txBody>
      </p:sp>
      <p:sp>
        <p:nvSpPr>
          <p:cNvPr id="9" name="Text 5"/>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Where intervention is most urgent</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Two lenses: where deaths outnumber new infections, and where coverage is dangerously low.</a:t>
            </a:r>
            <a:endParaRPr lang="en-US" sz="1450" dirty="0"/>
          </a:p>
        </p:txBody>
      </p:sp>
      <p:pic>
        <p:nvPicPr>
          <p:cNvPr id="5" name="Image 0" descr="charts/c7_per1000.png">    </p:cNvPr>
          <p:cNvPicPr>
            <a:picLocks noChangeAspect="1"/>
          </p:cNvPicPr>
          <p:nvPr/>
        </p:nvPicPr>
        <p:blipFill>
          <a:blip r:embed="rId1"/>
          <a:stretch>
            <a:fillRect/>
          </a:stretch>
        </p:blipFill>
        <p:spPr>
          <a:xfrm>
            <a:off x="457200" y="1645920"/>
            <a:ext cx="5577840" cy="3346704"/>
          </a:xfrm>
          <a:prstGeom prst="rect">
            <a:avLst/>
          </a:prstGeom>
        </p:spPr>
      </p:pic>
      <p:pic>
        <p:nvPicPr>
          <p:cNvPr id="6" name="Image 1" descr="charts/c8_risk.png">    </p:cNvPr>
          <p:cNvPicPr>
            <a:picLocks noChangeAspect="1"/>
          </p:cNvPicPr>
          <p:nvPr/>
        </p:nvPicPr>
        <p:blipFill>
          <a:blip r:embed="rId2"/>
          <a:stretch>
            <a:fillRect/>
          </a:stretch>
        </p:blipFill>
        <p:spPr>
          <a:xfrm>
            <a:off x="6263640" y="1645920"/>
            <a:ext cx="5577840" cy="3346704"/>
          </a:xfrm>
          <a:prstGeom prst="rect">
            <a:avLst/>
          </a:prstGeom>
        </p:spPr>
      </p:pic>
      <p:sp>
        <p:nvSpPr>
          <p:cNvPr id="7" name="Shape 3"/>
          <p:cNvSpPr/>
          <p:nvPr/>
        </p:nvSpPr>
        <p:spPr>
          <a:xfrm>
            <a:off x="548640" y="5029200"/>
            <a:ext cx="11064240" cy="1371600"/>
          </a:xfrm>
          <a:prstGeom prst="rect">
            <a:avLst/>
          </a:prstGeom>
          <a:solidFill>
            <a:srgbClr val="1F3A5F"/>
          </a:solidFill>
          <a:ln/>
        </p:spPr>
      </p:sp>
      <p:sp>
        <p:nvSpPr>
          <p:cNvPr id="8" name="Text 4"/>
          <p:cNvSpPr/>
          <p:nvPr/>
        </p:nvSpPr>
        <p:spPr>
          <a:xfrm>
            <a:off x="914400" y="5138928"/>
            <a:ext cx="10424160" cy="1143000"/>
          </a:xfrm>
          <a:prstGeom prst="rect">
            <a:avLst/>
          </a:prstGeom>
          <a:noFill/>
          <a:ln/>
        </p:spPr>
        <p:txBody>
          <a:bodyPr wrap="square" lIns="0" tIns="0" rIns="0" bIns="0" rtlCol="0" anchor="ctr"/>
          <a:lstStyle/>
          <a:p>
            <a:pPr indent="0" marL="0">
              <a:lnSpc>
                <a:spcPts val="1800"/>
              </a:lnSpc>
              <a:buNone/>
            </a:pPr>
            <a:r>
              <a:rPr lang="en-US" sz="1350" b="1" dirty="0">
                <a:solidFill>
                  <a:srgbClr val="E07B1C"/>
                </a:solidFill>
                <a:latin typeface="Calibri" pitchFamily="34" charset="0"/>
                <a:ea typeface="Calibri" pitchFamily="34" charset="-122"/>
                <a:cs typeface="Calibri" pitchFamily="34" charset="-120"/>
              </a:rPr>
              <a:t>The priority list.  </a:t>
            </a:r>
            <a:pPr indent="0" marL="0">
              <a:lnSpc>
                <a:spcPts val="1800"/>
              </a:lnSpc>
              <a:buNone/>
            </a:pPr>
            <a:r>
              <a:rPr lang="en-US" sz="1350" dirty="0">
                <a:solidFill>
                  <a:srgbClr val="FFFFFF"/>
                </a:solidFill>
                <a:latin typeface="Calibri" pitchFamily="34" charset="0"/>
                <a:ea typeface="Calibri" pitchFamily="34" charset="-122"/>
                <a:cs typeface="Calibri" pitchFamily="34" charset="-120"/>
              </a:rPr>
              <a:t>Lesotho, Ethiopia, Malawi and Zimbabwe record more deaths than new infections (&gt;1,000 per 1,000) — a retention-in-care problem. Pakistan (16%), Sudan (20%), Madagascar (29%) and Indonesia (41%) pair large burdens with sub-50% ART coverage — the clearest targets for urgent scale-up.</a:t>
            </a:r>
            <a:endParaRPr lang="en-US" sz="1350" dirty="0"/>
          </a:p>
        </p:txBody>
      </p:sp>
      <p:sp>
        <p:nvSpPr>
          <p:cNvPr id="9" name="Text 5"/>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Dashboard Insights</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What the analysis tells us about burden, treatment and implementation.</a:t>
            </a:r>
            <a:endParaRPr lang="en-US" sz="1450" dirty="0"/>
          </a:p>
        </p:txBody>
      </p:sp>
      <p:sp>
        <p:nvSpPr>
          <p:cNvPr id="5" name="Shape 3"/>
          <p:cNvSpPr/>
          <p:nvPr/>
        </p:nvSpPr>
        <p:spPr>
          <a:xfrm>
            <a:off x="548640" y="1508760"/>
            <a:ext cx="5440680" cy="4617720"/>
          </a:xfrm>
          <a:prstGeom prst="rect">
            <a:avLst/>
          </a:prstGeom>
          <a:solidFill>
            <a:srgbClr val="FFFFFF"/>
          </a:solidFill>
          <a:ln w="12700">
            <a:solidFill>
              <a:srgbClr val="E0E6EC"/>
            </a:solidFill>
            <a:prstDash val="solid"/>
          </a:ln>
        </p:spPr>
      </p:sp>
      <p:sp>
        <p:nvSpPr>
          <p:cNvPr id="6" name="Shape 4"/>
          <p:cNvSpPr/>
          <p:nvPr/>
        </p:nvSpPr>
        <p:spPr>
          <a:xfrm>
            <a:off x="548640" y="1627632"/>
            <a:ext cx="2286000" cy="502920"/>
          </a:xfrm>
          <a:prstGeom prst="homePlate">
            <a:avLst/>
          </a:prstGeom>
          <a:solidFill>
            <a:srgbClr val="4F8A3D"/>
          </a:solidFill>
          <a:ln/>
        </p:spPr>
      </p:sp>
      <p:sp>
        <p:nvSpPr>
          <p:cNvPr id="7" name="Text 5"/>
          <p:cNvSpPr/>
          <p:nvPr/>
        </p:nvSpPr>
        <p:spPr>
          <a:xfrm>
            <a:off x="658368" y="1627632"/>
            <a:ext cx="201168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Dashboard Insight</a:t>
            </a:r>
            <a:endParaRPr lang="en-US" sz="1200" dirty="0"/>
          </a:p>
        </p:txBody>
      </p:sp>
      <p:sp>
        <p:nvSpPr>
          <p:cNvPr id="8" name="Text 6"/>
          <p:cNvSpPr/>
          <p:nvPr/>
        </p:nvSpPr>
        <p:spPr>
          <a:xfrm>
            <a:off x="777240" y="233172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1097280" y="229514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Across 2000–2024 the dashboard counts 690M+ people living with HIV. Rising prevalence isn't worsening infections — better ART keeps patients alive, so HIV is increasingly a manageable chronic condition. Higher prevalence can reflect healthcare success.</a:t>
            </a:r>
            <a:endParaRPr lang="en-US" sz="1150" dirty="0"/>
          </a:p>
        </p:txBody>
      </p:sp>
      <p:sp>
        <p:nvSpPr>
          <p:cNvPr id="10" name="Text 8"/>
          <p:cNvSpPr/>
          <p:nvPr/>
        </p:nvSpPr>
        <p:spPr>
          <a:xfrm>
            <a:off x="777240" y="356616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1097280" y="352958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African countries carry the highest HIV burden — high infection rates, large numbers living with HIV and significant mortality — reflecting how healthcare inequality, poverty and limited treatment access affect outcomes across the region.</a:t>
            </a:r>
            <a:endParaRPr lang="en-US" sz="1150" dirty="0"/>
          </a:p>
        </p:txBody>
      </p:sp>
      <p:sp>
        <p:nvSpPr>
          <p:cNvPr id="12" name="Text 10"/>
          <p:cNvSpPr/>
          <p:nvPr/>
        </p:nvSpPr>
        <p:spPr>
          <a:xfrm>
            <a:off x="777240" y="480060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1097280" y="476402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In many countries death rates are falling faster than infection rates — evidence that healthcare systems and HIV interventions are improving survival through better access to medication and long-term care.</a:t>
            </a:r>
            <a:endParaRPr lang="en-US" sz="1150" dirty="0"/>
          </a:p>
        </p:txBody>
      </p:sp>
      <p:sp>
        <p:nvSpPr>
          <p:cNvPr id="14" name="Shape 12"/>
          <p:cNvSpPr/>
          <p:nvPr/>
        </p:nvSpPr>
        <p:spPr>
          <a:xfrm>
            <a:off x="6199632" y="1508760"/>
            <a:ext cx="5440680" cy="4617720"/>
          </a:xfrm>
          <a:prstGeom prst="rect">
            <a:avLst/>
          </a:prstGeom>
          <a:solidFill>
            <a:srgbClr val="FFFFFF"/>
          </a:solidFill>
          <a:ln w="12700">
            <a:solidFill>
              <a:srgbClr val="E0E6EC"/>
            </a:solidFill>
            <a:prstDash val="solid"/>
          </a:ln>
        </p:spPr>
      </p:sp>
      <p:sp>
        <p:nvSpPr>
          <p:cNvPr id="15" name="Shape 13"/>
          <p:cNvSpPr/>
          <p:nvPr/>
        </p:nvSpPr>
        <p:spPr>
          <a:xfrm>
            <a:off x="6199632" y="1627632"/>
            <a:ext cx="2286000" cy="502920"/>
          </a:xfrm>
          <a:prstGeom prst="homePlate">
            <a:avLst/>
          </a:prstGeom>
          <a:solidFill>
            <a:srgbClr val="4F8A3D"/>
          </a:solidFill>
          <a:ln/>
        </p:spPr>
      </p:sp>
      <p:sp>
        <p:nvSpPr>
          <p:cNvPr id="16" name="Text 14"/>
          <p:cNvSpPr/>
          <p:nvPr/>
        </p:nvSpPr>
        <p:spPr>
          <a:xfrm>
            <a:off x="6309360" y="1627632"/>
            <a:ext cx="2011680" cy="5029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Dashboard Insight</a:t>
            </a:r>
            <a:endParaRPr lang="en-US" sz="1200" dirty="0"/>
          </a:p>
        </p:txBody>
      </p:sp>
      <p:sp>
        <p:nvSpPr>
          <p:cNvPr id="17" name="Text 15"/>
          <p:cNvSpPr/>
          <p:nvPr/>
        </p:nvSpPr>
        <p:spPr>
          <a:xfrm>
            <a:off x="6428232" y="233172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6748272" y="229514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Countries with stronger ART coverage generally show lower mortality, better survival and improved long-term disease management. As treatment access improves, mortality tends to fall.</a:t>
            </a:r>
            <a:endParaRPr lang="en-US" sz="1150" dirty="0"/>
          </a:p>
        </p:txBody>
      </p:sp>
      <p:sp>
        <p:nvSpPr>
          <p:cNvPr id="19" name="Text 17"/>
          <p:cNvSpPr/>
          <p:nvPr/>
        </p:nvSpPr>
        <p:spPr>
          <a:xfrm>
            <a:off x="6428232" y="356616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20" name="Text 18"/>
          <p:cNvSpPr/>
          <p:nvPr/>
        </p:nvSpPr>
        <p:spPr>
          <a:xfrm>
            <a:off x="6748272" y="352958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Yet some countries record high “Deaths per 1,000 New Infections” even where coverage looks moderate or high — pointing to weak healthcare delivery, late diagnosis, poor follow-up, medication interruptions or data-reporting gaps.</a:t>
            </a:r>
            <a:endParaRPr lang="en-US" sz="1150" dirty="0"/>
          </a:p>
        </p:txBody>
      </p:sp>
      <p:sp>
        <p:nvSpPr>
          <p:cNvPr id="21" name="Text 19"/>
          <p:cNvSpPr/>
          <p:nvPr/>
        </p:nvSpPr>
        <p:spPr>
          <a:xfrm>
            <a:off x="6428232" y="4800600"/>
            <a:ext cx="274320" cy="274320"/>
          </a:xfrm>
          <a:prstGeom prst="rect">
            <a:avLst/>
          </a:prstGeom>
          <a:noFill/>
          <a:ln/>
        </p:spPr>
        <p:txBody>
          <a:bodyPr wrap="square" lIns="0" tIns="0" rIns="0" bIns="0" rtlCol="0" anchor="ctr"/>
          <a:lstStyle/>
          <a:p>
            <a:pPr indent="0" marL="0">
              <a:buNone/>
            </a:pPr>
            <a:r>
              <a:rPr lang="en-US" sz="1100" dirty="0">
                <a:solidFill>
                  <a:srgbClr val="E07B1C"/>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6748272" y="4764024"/>
            <a:ext cx="4663440" cy="1188720"/>
          </a:xfrm>
          <a:prstGeom prst="rect">
            <a:avLst/>
          </a:prstGeom>
          <a:noFill/>
          <a:ln/>
        </p:spPr>
        <p:txBody>
          <a:bodyPr wrap="square" lIns="0" tIns="0" rIns="0" bIns="0" rtlCol="0" anchor="t"/>
          <a:lstStyle/>
          <a:p>
            <a:pPr indent="0" marL="0">
              <a:lnSpc>
                <a:spcPts val="1450"/>
              </a:lnSpc>
              <a:buNone/>
            </a:pPr>
            <a:r>
              <a:rPr lang="en-US" sz="1150" dirty="0">
                <a:solidFill>
                  <a:srgbClr val="1B2733"/>
                </a:solidFill>
                <a:latin typeface="Calibri" pitchFamily="34" charset="0"/>
                <a:ea typeface="Calibri" pitchFamily="34" charset="-122"/>
                <a:cs typeface="Calibri" pitchFamily="34" charset="-120"/>
              </a:rPr>
              <a:t>Treatment availability alone is not enough if implementation systems are weak — strong delivery, monitoring and reporting are just as critical as access.</a:t>
            </a:r>
            <a:endParaRPr lang="en-US" sz="1150" dirty="0"/>
          </a:p>
        </p:txBody>
      </p:sp>
      <p:sp>
        <p:nvSpPr>
          <p:cNvPr id="23" name="Text 21"/>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Recommendations</a:t>
            </a:r>
            <a:endParaRPr lang="en-US" sz="2700" dirty="0"/>
          </a:p>
        </p:txBody>
      </p:sp>
      <p:sp>
        <p:nvSpPr>
          <p:cNvPr id="4" name="Shape 2"/>
          <p:cNvSpPr/>
          <p:nvPr/>
        </p:nvSpPr>
        <p:spPr>
          <a:xfrm>
            <a:off x="548640" y="1554480"/>
            <a:ext cx="11064240" cy="2057400"/>
          </a:xfrm>
          <a:prstGeom prst="rect">
            <a:avLst/>
          </a:prstGeom>
          <a:solidFill>
            <a:srgbClr val="FFFFFF"/>
          </a:solidFill>
          <a:ln w="12700">
            <a:solidFill>
              <a:srgbClr val="E0E6EC"/>
            </a:solidFill>
            <a:prstDash val="solid"/>
          </a:ln>
        </p:spPr>
      </p:sp>
      <p:sp>
        <p:nvSpPr>
          <p:cNvPr id="5" name="Shape 3"/>
          <p:cNvSpPr/>
          <p:nvPr/>
        </p:nvSpPr>
        <p:spPr>
          <a:xfrm>
            <a:off x="548640" y="1554480"/>
            <a:ext cx="109728" cy="2057400"/>
          </a:xfrm>
          <a:prstGeom prst="rect">
            <a:avLst/>
          </a:prstGeom>
          <a:solidFill>
            <a:srgbClr val="E07B1C"/>
          </a:solidFill>
          <a:ln/>
        </p:spPr>
      </p:sp>
      <p:sp>
        <p:nvSpPr>
          <p:cNvPr id="6" name="Text 4"/>
          <p:cNvSpPr/>
          <p:nvPr/>
        </p:nvSpPr>
        <p:spPr>
          <a:xfrm>
            <a:off x="868680" y="1737360"/>
            <a:ext cx="457200" cy="457200"/>
          </a:xfrm>
          <a:prstGeom prst="rect">
            <a:avLst/>
          </a:prstGeom>
          <a:noFill/>
          <a:ln/>
        </p:spPr>
        <p:txBody>
          <a:bodyPr wrap="square" lIns="0" tIns="0" rIns="0" bIns="0" rtlCol="0" anchor="ctr"/>
          <a:lstStyle/>
          <a:p>
            <a:pPr indent="0" marL="0">
              <a:buNone/>
            </a:pPr>
            <a:r>
              <a:rPr lang="en-US" sz="2200" b="1" dirty="0">
                <a:solidFill>
                  <a:srgbClr val="E07B1C"/>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371600" y="1719072"/>
            <a:ext cx="9966960" cy="411480"/>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Expand access, prevention &amp; early diagnosis</a:t>
            </a:r>
            <a:endParaRPr lang="en-US" sz="1700" dirty="0"/>
          </a:p>
        </p:txBody>
      </p:sp>
      <p:sp>
        <p:nvSpPr>
          <p:cNvPr id="8" name="Text 6"/>
          <p:cNvSpPr/>
          <p:nvPr/>
        </p:nvSpPr>
        <p:spPr>
          <a:xfrm>
            <a:off x="1371600" y="2157984"/>
            <a:ext cx="9966960" cy="1371600"/>
          </a:xfrm>
          <a:prstGeom prst="rect">
            <a:avLst/>
          </a:prstGeom>
          <a:noFill/>
          <a:ln/>
        </p:spPr>
        <p:txBody>
          <a:bodyPr wrap="square" lIns="0" tIns="0" rIns="0" bIns="0" rtlCol="0" anchor="t"/>
          <a:lstStyle/>
          <a:p>
            <a:pPr indent="0" marL="0">
              <a:lnSpc>
                <a:spcPts val="1800"/>
              </a:lnSpc>
              <a:buNone/>
            </a:pPr>
            <a:r>
              <a:rPr lang="en-US" sz="1300" dirty="0">
                <a:solidFill>
                  <a:srgbClr val="1B2733"/>
                </a:solidFill>
                <a:latin typeface="Calibri" pitchFamily="34" charset="0"/>
                <a:ea typeface="Calibri" pitchFamily="34" charset="-122"/>
                <a:cs typeface="Calibri" pitchFamily="34" charset="-120"/>
              </a:rPr>
              <a:t>Reducing the global HIV burden requires early diagnosis, improved treatment access, stronger healthcare systems and effective prevention. Governments and health organizations should expand community testing, awareness campaigns and mobile screening to encourage early detection and reduce transmission. Increasing access to affordable ART — particularly in high-burden regions such as Sub-Saharan Africa — is essential to lowering HIV-related deaths and improving quality of life.</a:t>
            </a:r>
            <a:endParaRPr lang="en-US" sz="1300" dirty="0"/>
          </a:p>
        </p:txBody>
      </p:sp>
      <p:sp>
        <p:nvSpPr>
          <p:cNvPr id="9" name="Shape 7"/>
          <p:cNvSpPr/>
          <p:nvPr/>
        </p:nvSpPr>
        <p:spPr>
          <a:xfrm>
            <a:off x="548640" y="3794760"/>
            <a:ext cx="11064240" cy="2057400"/>
          </a:xfrm>
          <a:prstGeom prst="rect">
            <a:avLst/>
          </a:prstGeom>
          <a:solidFill>
            <a:srgbClr val="FFFFFF"/>
          </a:solidFill>
          <a:ln w="12700">
            <a:solidFill>
              <a:srgbClr val="E0E6EC"/>
            </a:solidFill>
            <a:prstDash val="solid"/>
          </a:ln>
        </p:spPr>
      </p:sp>
      <p:sp>
        <p:nvSpPr>
          <p:cNvPr id="10" name="Shape 8"/>
          <p:cNvSpPr/>
          <p:nvPr/>
        </p:nvSpPr>
        <p:spPr>
          <a:xfrm>
            <a:off x="548640" y="3794760"/>
            <a:ext cx="109728" cy="2057400"/>
          </a:xfrm>
          <a:prstGeom prst="rect">
            <a:avLst/>
          </a:prstGeom>
          <a:solidFill>
            <a:srgbClr val="2A9D8F"/>
          </a:solidFill>
          <a:ln/>
        </p:spPr>
      </p:sp>
      <p:sp>
        <p:nvSpPr>
          <p:cNvPr id="11" name="Text 9"/>
          <p:cNvSpPr/>
          <p:nvPr/>
        </p:nvSpPr>
        <p:spPr>
          <a:xfrm>
            <a:off x="868680" y="3977640"/>
            <a:ext cx="457200" cy="457200"/>
          </a:xfrm>
          <a:prstGeom prst="rect">
            <a:avLst/>
          </a:prstGeom>
          <a:noFill/>
          <a:ln/>
        </p:spPr>
        <p:txBody>
          <a:bodyPr wrap="square" lIns="0" tIns="0" rIns="0" bIns="0" rtlCol="0" anchor="ctr"/>
          <a:lstStyle/>
          <a:p>
            <a:pPr indent="0" marL="0">
              <a:buNone/>
            </a:pPr>
            <a:r>
              <a:rPr lang="en-US" sz="2200" b="1" dirty="0">
                <a:solidFill>
                  <a:srgbClr val="2A9D8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371600" y="3959352"/>
            <a:ext cx="9966960" cy="411480"/>
          </a:xfrm>
          <a:prstGeom prst="rect">
            <a:avLst/>
          </a:prstGeom>
          <a:noFill/>
          <a:ln/>
        </p:spPr>
        <p:txBody>
          <a:bodyPr wrap="square" lIns="0" tIns="0" rIns="0" bIns="0" rtlCol="0" anchor="ctr"/>
          <a:lstStyle/>
          <a:p>
            <a:pPr indent="0" marL="0">
              <a:buNone/>
            </a:pPr>
            <a:r>
              <a:rPr lang="en-US" sz="1700" b="1" dirty="0">
                <a:solidFill>
                  <a:srgbClr val="1F3A5F"/>
                </a:solidFill>
                <a:latin typeface="Georgia" pitchFamily="34" charset="0"/>
                <a:ea typeface="Georgia" pitchFamily="34" charset="-122"/>
                <a:cs typeface="Georgia" pitchFamily="34" charset="-120"/>
              </a:rPr>
              <a:t>Strengthen systems, monitoring &amp; data</a:t>
            </a:r>
            <a:endParaRPr lang="en-US" sz="1700" dirty="0"/>
          </a:p>
        </p:txBody>
      </p:sp>
      <p:sp>
        <p:nvSpPr>
          <p:cNvPr id="13" name="Text 11"/>
          <p:cNvSpPr/>
          <p:nvPr/>
        </p:nvSpPr>
        <p:spPr>
          <a:xfrm>
            <a:off x="1371600" y="4398264"/>
            <a:ext cx="9966960" cy="1371600"/>
          </a:xfrm>
          <a:prstGeom prst="rect">
            <a:avLst/>
          </a:prstGeom>
          <a:noFill/>
          <a:ln/>
        </p:spPr>
        <p:txBody>
          <a:bodyPr wrap="square" lIns="0" tIns="0" rIns="0" bIns="0" rtlCol="0" anchor="t"/>
          <a:lstStyle/>
          <a:p>
            <a:pPr indent="0" marL="0">
              <a:lnSpc>
                <a:spcPts val="1800"/>
              </a:lnSpc>
              <a:buNone/>
            </a:pPr>
            <a:r>
              <a:rPr lang="en-US" sz="1300" dirty="0">
                <a:solidFill>
                  <a:srgbClr val="1B2733"/>
                </a:solidFill>
                <a:latin typeface="Calibri" pitchFamily="34" charset="0"/>
                <a:ea typeface="Calibri" pitchFamily="34" charset="-122"/>
                <a:cs typeface="Calibri" pitchFamily="34" charset="-120"/>
              </a:rPr>
              <a:t>Healthcare systems must strengthen patient monitoring, treatment distribution and data-reporting to ensure consistent care and informed decisions. Preventive education, condom distribution and youth-awareness initiatives remain critical to reducing new infections. Tools such as Microsoft Power BI help monitor trends, identify high-risk populations and support evidence-based policymaking. Sustainable progress depends on integrating prevention, treatment, accurate reporting and data-driven strategies.</a:t>
            </a:r>
            <a:endParaRPr lang="en-US" sz="1300" dirty="0"/>
          </a:p>
        </p:txBody>
      </p:sp>
      <p:sp>
        <p:nvSpPr>
          <p:cNvPr id="14" name="Text 12"/>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Shape 0"/>
          <p:cNvSpPr/>
          <p:nvPr/>
        </p:nvSpPr>
        <p:spPr>
          <a:xfrm>
            <a:off x="548640" y="457200"/>
            <a:ext cx="146304" cy="420624"/>
          </a:xfrm>
          <a:prstGeom prst="rect">
            <a:avLst/>
          </a:prstGeom>
          <a:solidFill>
            <a:srgbClr val="E07B1C"/>
          </a:solidFill>
          <a:ln/>
        </p:spPr>
      </p:sp>
      <p:sp>
        <p:nvSpPr>
          <p:cNvPr id="3" name="Text 1"/>
          <p:cNvSpPr/>
          <p:nvPr/>
        </p:nvSpPr>
        <p:spPr>
          <a:xfrm>
            <a:off x="804672" y="402336"/>
            <a:ext cx="10789920" cy="548640"/>
          </a:xfrm>
          <a:prstGeom prst="rect">
            <a:avLst/>
          </a:prstGeom>
          <a:noFill/>
          <a:ln/>
        </p:spPr>
        <p:txBody>
          <a:bodyPr wrap="square" lIns="0" tIns="0" rIns="0" bIns="0" rtlCol="0" anchor="ctr"/>
          <a:lstStyle/>
          <a:p>
            <a:pPr indent="0" marL="0">
              <a:buNone/>
            </a:pPr>
            <a:r>
              <a:rPr lang="en-US" sz="2700" b="1" dirty="0">
                <a:solidFill>
                  <a:srgbClr val="1F3A5F"/>
                </a:solidFill>
                <a:latin typeface="Georgia" pitchFamily="34" charset="0"/>
                <a:ea typeface="Georgia" pitchFamily="34" charset="-122"/>
                <a:cs typeface="Georgia" pitchFamily="34" charset="-120"/>
              </a:rPr>
              <a:t>Priority Actions</a:t>
            </a:r>
            <a:endParaRPr lang="en-US" sz="2700" dirty="0"/>
          </a:p>
        </p:txBody>
      </p:sp>
      <p:sp>
        <p:nvSpPr>
          <p:cNvPr id="4" name="Text 2"/>
          <p:cNvSpPr/>
          <p:nvPr/>
        </p:nvSpPr>
        <p:spPr>
          <a:xfrm>
            <a:off x="822960" y="1024128"/>
            <a:ext cx="10789920" cy="384048"/>
          </a:xfrm>
          <a:prstGeom prst="rect">
            <a:avLst/>
          </a:prstGeom>
          <a:noFill/>
          <a:ln/>
        </p:spPr>
        <p:txBody>
          <a:bodyPr wrap="square" lIns="0" tIns="0" rIns="0" bIns="0" rtlCol="0" anchor="ctr"/>
          <a:lstStyle/>
          <a:p>
            <a:pPr indent="0" marL="0">
              <a:buNone/>
            </a:pPr>
            <a:r>
              <a:rPr lang="en-US" sz="1450" i="1" dirty="0">
                <a:solidFill>
                  <a:srgbClr val="5A6B7B"/>
                </a:solidFill>
                <a:latin typeface="Calibri" pitchFamily="34" charset="0"/>
                <a:ea typeface="Calibri" pitchFamily="34" charset="-122"/>
                <a:cs typeface="Calibri" pitchFamily="34" charset="-120"/>
              </a:rPr>
              <a:t>Five data-driven moves, ranked by impact.</a:t>
            </a:r>
            <a:endParaRPr lang="en-US" sz="1450" dirty="0"/>
          </a:p>
        </p:txBody>
      </p:sp>
      <p:sp>
        <p:nvSpPr>
          <p:cNvPr id="5" name="Shape 3"/>
          <p:cNvSpPr/>
          <p:nvPr/>
        </p:nvSpPr>
        <p:spPr>
          <a:xfrm>
            <a:off x="548640" y="1508760"/>
            <a:ext cx="11064240" cy="822960"/>
          </a:xfrm>
          <a:prstGeom prst="rect">
            <a:avLst/>
          </a:prstGeom>
          <a:solidFill>
            <a:srgbClr val="FFFFFF"/>
          </a:solidFill>
          <a:ln w="12700">
            <a:solidFill>
              <a:srgbClr val="E0E6EC"/>
            </a:solidFill>
            <a:prstDash val="solid"/>
          </a:ln>
        </p:spPr>
      </p:sp>
      <p:sp>
        <p:nvSpPr>
          <p:cNvPr id="6" name="Shape 4"/>
          <p:cNvSpPr/>
          <p:nvPr/>
        </p:nvSpPr>
        <p:spPr>
          <a:xfrm>
            <a:off x="548640" y="1508760"/>
            <a:ext cx="109728" cy="822960"/>
          </a:xfrm>
          <a:prstGeom prst="rect">
            <a:avLst/>
          </a:prstGeom>
          <a:solidFill>
            <a:srgbClr val="E07B1C"/>
          </a:solidFill>
          <a:ln/>
        </p:spPr>
      </p:sp>
      <p:sp>
        <p:nvSpPr>
          <p:cNvPr id="7" name="Shape 5"/>
          <p:cNvSpPr/>
          <p:nvPr/>
        </p:nvSpPr>
        <p:spPr>
          <a:xfrm>
            <a:off x="777240" y="1691640"/>
            <a:ext cx="457200" cy="457200"/>
          </a:xfrm>
          <a:prstGeom prst="ellipse">
            <a:avLst/>
          </a:prstGeom>
          <a:solidFill>
            <a:srgbClr val="1F3A5F"/>
          </a:solidFill>
          <a:ln/>
        </p:spPr>
      </p:sp>
      <p:sp>
        <p:nvSpPr>
          <p:cNvPr id="8" name="Text 6"/>
          <p:cNvSpPr/>
          <p:nvPr/>
        </p:nvSpPr>
        <p:spPr>
          <a:xfrm>
            <a:off x="777240" y="1691640"/>
            <a:ext cx="457200" cy="457200"/>
          </a:xfrm>
          <a:prstGeom prst="rect">
            <a:avLst/>
          </a:prstGeom>
          <a:noFill/>
          <a:ln/>
        </p:spPr>
        <p:txBody>
          <a:bodyPr wrap="square" lIns="0" tIns="0" rIns="0" bIns="0" rtlCol="0" anchor="ctr"/>
          <a:lstStyle/>
          <a:p>
            <a:pPr algn="ctr" indent="0" marL="0">
              <a:buNone/>
            </a:pPr>
            <a:r>
              <a:rPr lang="en-US" sz="1800" b="1" dirty="0">
                <a:solidFill>
                  <a:srgbClr val="E07B1C"/>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1417320" y="1563624"/>
            <a:ext cx="3291840" cy="7315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Close the coverage gaps</a:t>
            </a:r>
            <a:endParaRPr lang="en-US" sz="1500" dirty="0"/>
          </a:p>
        </p:txBody>
      </p:sp>
      <p:sp>
        <p:nvSpPr>
          <p:cNvPr id="10" name="Text 8"/>
          <p:cNvSpPr/>
          <p:nvPr/>
        </p:nvSpPr>
        <p:spPr>
          <a:xfrm>
            <a:off x="4800600" y="1554480"/>
            <a:ext cx="667512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Fund low-ART, high-burden countries — Pakistan, Indonesia, Madagascar, Congo, Sudan.</a:t>
            </a:r>
            <a:endParaRPr lang="en-US" sz="1250" dirty="0"/>
          </a:p>
        </p:txBody>
      </p:sp>
      <p:sp>
        <p:nvSpPr>
          <p:cNvPr id="11" name="Shape 9"/>
          <p:cNvSpPr/>
          <p:nvPr/>
        </p:nvSpPr>
        <p:spPr>
          <a:xfrm>
            <a:off x="548640" y="2414016"/>
            <a:ext cx="11064240" cy="822960"/>
          </a:xfrm>
          <a:prstGeom prst="rect">
            <a:avLst/>
          </a:prstGeom>
          <a:solidFill>
            <a:srgbClr val="FFFFFF"/>
          </a:solidFill>
          <a:ln w="12700">
            <a:solidFill>
              <a:srgbClr val="E0E6EC"/>
            </a:solidFill>
            <a:prstDash val="solid"/>
          </a:ln>
        </p:spPr>
      </p:sp>
      <p:sp>
        <p:nvSpPr>
          <p:cNvPr id="12" name="Shape 10"/>
          <p:cNvSpPr/>
          <p:nvPr/>
        </p:nvSpPr>
        <p:spPr>
          <a:xfrm>
            <a:off x="548640" y="2414016"/>
            <a:ext cx="109728" cy="822960"/>
          </a:xfrm>
          <a:prstGeom prst="rect">
            <a:avLst/>
          </a:prstGeom>
          <a:solidFill>
            <a:srgbClr val="E07B1C"/>
          </a:solidFill>
          <a:ln/>
        </p:spPr>
      </p:sp>
      <p:sp>
        <p:nvSpPr>
          <p:cNvPr id="13" name="Shape 11"/>
          <p:cNvSpPr/>
          <p:nvPr/>
        </p:nvSpPr>
        <p:spPr>
          <a:xfrm>
            <a:off x="777240" y="2596896"/>
            <a:ext cx="457200" cy="457200"/>
          </a:xfrm>
          <a:prstGeom prst="ellipse">
            <a:avLst/>
          </a:prstGeom>
          <a:solidFill>
            <a:srgbClr val="1F3A5F"/>
          </a:solidFill>
          <a:ln/>
        </p:spPr>
      </p:sp>
      <p:sp>
        <p:nvSpPr>
          <p:cNvPr id="14" name="Text 12"/>
          <p:cNvSpPr/>
          <p:nvPr/>
        </p:nvSpPr>
        <p:spPr>
          <a:xfrm>
            <a:off x="777240" y="2596896"/>
            <a:ext cx="457200" cy="457200"/>
          </a:xfrm>
          <a:prstGeom prst="rect">
            <a:avLst/>
          </a:prstGeom>
          <a:noFill/>
          <a:ln/>
        </p:spPr>
        <p:txBody>
          <a:bodyPr wrap="square" lIns="0" tIns="0" rIns="0" bIns="0" rtlCol="0" anchor="ctr"/>
          <a:lstStyle/>
          <a:p>
            <a:pPr algn="ctr" indent="0" marL="0">
              <a:buNone/>
            </a:pPr>
            <a:r>
              <a:rPr lang="en-US" sz="1800" b="1" dirty="0">
                <a:solidFill>
                  <a:srgbClr val="E07B1C"/>
                </a:solidFill>
                <a:latin typeface="Georgia" pitchFamily="34" charset="0"/>
                <a:ea typeface="Georgia" pitchFamily="34" charset="-122"/>
                <a:cs typeface="Georgia" pitchFamily="34" charset="-120"/>
              </a:rPr>
              <a:t>2</a:t>
            </a:r>
            <a:endParaRPr lang="en-US" sz="1800" dirty="0"/>
          </a:p>
        </p:txBody>
      </p:sp>
      <p:sp>
        <p:nvSpPr>
          <p:cNvPr id="15" name="Text 13"/>
          <p:cNvSpPr/>
          <p:nvPr/>
        </p:nvSpPr>
        <p:spPr>
          <a:xfrm>
            <a:off x="1417320" y="2468880"/>
            <a:ext cx="3291840" cy="7315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Re-energise prevention</a:t>
            </a:r>
            <a:endParaRPr lang="en-US" sz="1500" dirty="0"/>
          </a:p>
        </p:txBody>
      </p:sp>
      <p:sp>
        <p:nvSpPr>
          <p:cNvPr id="16" name="Text 14"/>
          <p:cNvSpPr/>
          <p:nvPr/>
        </p:nvSpPr>
        <p:spPr>
          <a:xfrm>
            <a:off x="4800600" y="2459736"/>
            <a:ext cx="667512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Renew PrEP, testing &amp; education as new infections plateau — focus on Africa &amp; the Philippines.</a:t>
            </a:r>
            <a:endParaRPr lang="en-US" sz="1250" dirty="0"/>
          </a:p>
        </p:txBody>
      </p:sp>
      <p:sp>
        <p:nvSpPr>
          <p:cNvPr id="17" name="Shape 15"/>
          <p:cNvSpPr/>
          <p:nvPr/>
        </p:nvSpPr>
        <p:spPr>
          <a:xfrm>
            <a:off x="548640" y="3319272"/>
            <a:ext cx="11064240" cy="822960"/>
          </a:xfrm>
          <a:prstGeom prst="rect">
            <a:avLst/>
          </a:prstGeom>
          <a:solidFill>
            <a:srgbClr val="FFFFFF"/>
          </a:solidFill>
          <a:ln w="12700">
            <a:solidFill>
              <a:srgbClr val="E0E6EC"/>
            </a:solidFill>
            <a:prstDash val="solid"/>
          </a:ln>
        </p:spPr>
      </p:sp>
      <p:sp>
        <p:nvSpPr>
          <p:cNvPr id="18" name="Shape 16"/>
          <p:cNvSpPr/>
          <p:nvPr/>
        </p:nvSpPr>
        <p:spPr>
          <a:xfrm>
            <a:off x="548640" y="3319272"/>
            <a:ext cx="109728" cy="822960"/>
          </a:xfrm>
          <a:prstGeom prst="rect">
            <a:avLst/>
          </a:prstGeom>
          <a:solidFill>
            <a:srgbClr val="E07B1C"/>
          </a:solidFill>
          <a:ln/>
        </p:spPr>
      </p:sp>
      <p:sp>
        <p:nvSpPr>
          <p:cNvPr id="19" name="Shape 17"/>
          <p:cNvSpPr/>
          <p:nvPr/>
        </p:nvSpPr>
        <p:spPr>
          <a:xfrm>
            <a:off x="777240" y="3502152"/>
            <a:ext cx="457200" cy="457200"/>
          </a:xfrm>
          <a:prstGeom prst="ellipse">
            <a:avLst/>
          </a:prstGeom>
          <a:solidFill>
            <a:srgbClr val="1F3A5F"/>
          </a:solidFill>
          <a:ln/>
        </p:spPr>
      </p:sp>
      <p:sp>
        <p:nvSpPr>
          <p:cNvPr id="20" name="Text 18"/>
          <p:cNvSpPr/>
          <p:nvPr/>
        </p:nvSpPr>
        <p:spPr>
          <a:xfrm>
            <a:off x="777240" y="3502152"/>
            <a:ext cx="457200" cy="457200"/>
          </a:xfrm>
          <a:prstGeom prst="rect">
            <a:avLst/>
          </a:prstGeom>
          <a:noFill/>
          <a:ln/>
        </p:spPr>
        <p:txBody>
          <a:bodyPr wrap="square" lIns="0" tIns="0" rIns="0" bIns="0" rtlCol="0" anchor="ctr"/>
          <a:lstStyle/>
          <a:p>
            <a:pPr algn="ctr" indent="0" marL="0">
              <a:buNone/>
            </a:pPr>
            <a:r>
              <a:rPr lang="en-US" sz="1800" b="1" dirty="0">
                <a:solidFill>
                  <a:srgbClr val="E07B1C"/>
                </a:solidFill>
                <a:latin typeface="Georgia" pitchFamily="34" charset="0"/>
                <a:ea typeface="Georgia" pitchFamily="34" charset="-122"/>
                <a:cs typeface="Georgia" pitchFamily="34" charset="-120"/>
              </a:rPr>
              <a:t>3</a:t>
            </a:r>
            <a:endParaRPr lang="en-US" sz="1800" dirty="0"/>
          </a:p>
        </p:txBody>
      </p:sp>
      <p:sp>
        <p:nvSpPr>
          <p:cNvPr id="21" name="Text 19"/>
          <p:cNvSpPr/>
          <p:nvPr/>
        </p:nvSpPr>
        <p:spPr>
          <a:xfrm>
            <a:off x="1417320" y="3374136"/>
            <a:ext cx="3291840" cy="7315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Fund the growing care pool</a:t>
            </a:r>
            <a:endParaRPr lang="en-US" sz="1500" dirty="0"/>
          </a:p>
        </p:txBody>
      </p:sp>
      <p:sp>
        <p:nvSpPr>
          <p:cNvPr id="22" name="Text 20"/>
          <p:cNvSpPr/>
          <p:nvPr/>
        </p:nvSpPr>
        <p:spPr>
          <a:xfrm>
            <a:off x="4800600" y="3364992"/>
            <a:ext cx="667512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Sustainable, long-term financing for lifelong ART so mortality gains aren't reversed.</a:t>
            </a:r>
            <a:endParaRPr lang="en-US" sz="1250" dirty="0"/>
          </a:p>
        </p:txBody>
      </p:sp>
      <p:sp>
        <p:nvSpPr>
          <p:cNvPr id="23" name="Shape 21"/>
          <p:cNvSpPr/>
          <p:nvPr/>
        </p:nvSpPr>
        <p:spPr>
          <a:xfrm>
            <a:off x="548640" y="4224528"/>
            <a:ext cx="11064240" cy="822960"/>
          </a:xfrm>
          <a:prstGeom prst="rect">
            <a:avLst/>
          </a:prstGeom>
          <a:solidFill>
            <a:srgbClr val="FFFFFF"/>
          </a:solidFill>
          <a:ln w="12700">
            <a:solidFill>
              <a:srgbClr val="E0E6EC"/>
            </a:solidFill>
            <a:prstDash val="solid"/>
          </a:ln>
        </p:spPr>
      </p:sp>
      <p:sp>
        <p:nvSpPr>
          <p:cNvPr id="24" name="Shape 22"/>
          <p:cNvSpPr/>
          <p:nvPr/>
        </p:nvSpPr>
        <p:spPr>
          <a:xfrm>
            <a:off x="548640" y="4224528"/>
            <a:ext cx="109728" cy="822960"/>
          </a:xfrm>
          <a:prstGeom prst="rect">
            <a:avLst/>
          </a:prstGeom>
          <a:solidFill>
            <a:srgbClr val="E07B1C"/>
          </a:solidFill>
          <a:ln/>
        </p:spPr>
      </p:sp>
      <p:sp>
        <p:nvSpPr>
          <p:cNvPr id="25" name="Shape 23"/>
          <p:cNvSpPr/>
          <p:nvPr/>
        </p:nvSpPr>
        <p:spPr>
          <a:xfrm>
            <a:off x="777240" y="4407408"/>
            <a:ext cx="457200" cy="457200"/>
          </a:xfrm>
          <a:prstGeom prst="ellipse">
            <a:avLst/>
          </a:prstGeom>
          <a:solidFill>
            <a:srgbClr val="1F3A5F"/>
          </a:solidFill>
          <a:ln/>
        </p:spPr>
      </p:sp>
      <p:sp>
        <p:nvSpPr>
          <p:cNvPr id="26" name="Text 24"/>
          <p:cNvSpPr/>
          <p:nvPr/>
        </p:nvSpPr>
        <p:spPr>
          <a:xfrm>
            <a:off x="777240" y="4407408"/>
            <a:ext cx="457200" cy="457200"/>
          </a:xfrm>
          <a:prstGeom prst="rect">
            <a:avLst/>
          </a:prstGeom>
          <a:noFill/>
          <a:ln/>
        </p:spPr>
        <p:txBody>
          <a:bodyPr wrap="square" lIns="0" tIns="0" rIns="0" bIns="0" rtlCol="0" anchor="ctr"/>
          <a:lstStyle/>
          <a:p>
            <a:pPr algn="ctr" indent="0" marL="0">
              <a:buNone/>
            </a:pPr>
            <a:r>
              <a:rPr lang="en-US" sz="1800" b="1" dirty="0">
                <a:solidFill>
                  <a:srgbClr val="E07B1C"/>
                </a:solidFill>
                <a:latin typeface="Georgia" pitchFamily="34" charset="0"/>
                <a:ea typeface="Georgia" pitchFamily="34" charset="-122"/>
                <a:cs typeface="Georgia" pitchFamily="34" charset="-120"/>
              </a:rPr>
              <a:t>4</a:t>
            </a:r>
            <a:endParaRPr lang="en-US" sz="1800" dirty="0"/>
          </a:p>
        </p:txBody>
      </p:sp>
      <p:sp>
        <p:nvSpPr>
          <p:cNvPr id="27" name="Text 25"/>
          <p:cNvSpPr/>
          <p:nvPr/>
        </p:nvSpPr>
        <p:spPr>
          <a:xfrm>
            <a:off x="1417320" y="4279392"/>
            <a:ext cx="3291840" cy="7315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Target retention hotspots</a:t>
            </a:r>
            <a:endParaRPr lang="en-US" sz="1500" dirty="0"/>
          </a:p>
        </p:txBody>
      </p:sp>
      <p:sp>
        <p:nvSpPr>
          <p:cNvPr id="28" name="Text 26"/>
          <p:cNvSpPr/>
          <p:nvPr/>
        </p:nvSpPr>
        <p:spPr>
          <a:xfrm>
            <a:off x="4800600" y="4270248"/>
            <a:ext cx="667512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Lesotho, Ethiopia, Malawi, Zimbabwe — early diagnosis, adherence &amp; viral suppression.</a:t>
            </a:r>
            <a:endParaRPr lang="en-US" sz="1250" dirty="0"/>
          </a:p>
        </p:txBody>
      </p:sp>
      <p:sp>
        <p:nvSpPr>
          <p:cNvPr id="29" name="Shape 27"/>
          <p:cNvSpPr/>
          <p:nvPr/>
        </p:nvSpPr>
        <p:spPr>
          <a:xfrm>
            <a:off x="548640" y="5129784"/>
            <a:ext cx="11064240" cy="822960"/>
          </a:xfrm>
          <a:prstGeom prst="rect">
            <a:avLst/>
          </a:prstGeom>
          <a:solidFill>
            <a:srgbClr val="FFFFFF"/>
          </a:solidFill>
          <a:ln w="12700">
            <a:solidFill>
              <a:srgbClr val="E0E6EC"/>
            </a:solidFill>
            <a:prstDash val="solid"/>
          </a:ln>
        </p:spPr>
      </p:sp>
      <p:sp>
        <p:nvSpPr>
          <p:cNvPr id="30" name="Shape 28"/>
          <p:cNvSpPr/>
          <p:nvPr/>
        </p:nvSpPr>
        <p:spPr>
          <a:xfrm>
            <a:off x="548640" y="5129784"/>
            <a:ext cx="109728" cy="822960"/>
          </a:xfrm>
          <a:prstGeom prst="rect">
            <a:avLst/>
          </a:prstGeom>
          <a:solidFill>
            <a:srgbClr val="E07B1C"/>
          </a:solidFill>
          <a:ln/>
        </p:spPr>
      </p:sp>
      <p:sp>
        <p:nvSpPr>
          <p:cNvPr id="31" name="Shape 29"/>
          <p:cNvSpPr/>
          <p:nvPr/>
        </p:nvSpPr>
        <p:spPr>
          <a:xfrm>
            <a:off x="777240" y="5312664"/>
            <a:ext cx="457200" cy="457200"/>
          </a:xfrm>
          <a:prstGeom prst="ellipse">
            <a:avLst/>
          </a:prstGeom>
          <a:solidFill>
            <a:srgbClr val="1F3A5F"/>
          </a:solidFill>
          <a:ln/>
        </p:spPr>
      </p:sp>
      <p:sp>
        <p:nvSpPr>
          <p:cNvPr id="32" name="Text 30"/>
          <p:cNvSpPr/>
          <p:nvPr/>
        </p:nvSpPr>
        <p:spPr>
          <a:xfrm>
            <a:off x="777240" y="5312664"/>
            <a:ext cx="457200" cy="457200"/>
          </a:xfrm>
          <a:prstGeom prst="rect">
            <a:avLst/>
          </a:prstGeom>
          <a:noFill/>
          <a:ln/>
        </p:spPr>
        <p:txBody>
          <a:bodyPr wrap="square" lIns="0" tIns="0" rIns="0" bIns="0" rtlCol="0" anchor="ctr"/>
          <a:lstStyle/>
          <a:p>
            <a:pPr algn="ctr" indent="0" marL="0">
              <a:buNone/>
            </a:pPr>
            <a:r>
              <a:rPr lang="en-US" sz="1800" b="1" dirty="0">
                <a:solidFill>
                  <a:srgbClr val="E07B1C"/>
                </a:solidFill>
                <a:latin typeface="Georgia" pitchFamily="34" charset="0"/>
                <a:ea typeface="Georgia" pitchFamily="34" charset="-122"/>
                <a:cs typeface="Georgia" pitchFamily="34" charset="-120"/>
              </a:rPr>
              <a:t>5</a:t>
            </a:r>
            <a:endParaRPr lang="en-US" sz="1800" dirty="0"/>
          </a:p>
        </p:txBody>
      </p:sp>
      <p:sp>
        <p:nvSpPr>
          <p:cNvPr id="33" name="Text 31"/>
          <p:cNvSpPr/>
          <p:nvPr/>
        </p:nvSpPr>
        <p:spPr>
          <a:xfrm>
            <a:off x="1417320" y="5184648"/>
            <a:ext cx="3291840" cy="7315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Modernise data reporting</a:t>
            </a:r>
            <a:endParaRPr lang="en-US" sz="1500" dirty="0"/>
          </a:p>
        </p:txBody>
      </p:sp>
      <p:sp>
        <p:nvSpPr>
          <p:cNvPr id="34" name="Text 32"/>
          <p:cNvSpPr/>
          <p:nvPr/>
        </p:nvSpPr>
        <p:spPr>
          <a:xfrm>
            <a:off x="4800600" y="5175504"/>
            <a:ext cx="6675120" cy="749808"/>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Move five-yearly indicators to annual reporting for timelier course-correction.</a:t>
            </a:r>
            <a:endParaRPr lang="en-US" sz="1250" dirty="0"/>
          </a:p>
        </p:txBody>
      </p:sp>
      <p:sp>
        <p:nvSpPr>
          <p:cNvPr id="35" name="Text 33"/>
          <p:cNvSpPr/>
          <p:nvPr/>
        </p:nvSpPr>
        <p:spPr>
          <a:xfrm>
            <a:off x="11612880" y="6446520"/>
            <a:ext cx="457200" cy="274320"/>
          </a:xfrm>
          <a:prstGeom prst="rect">
            <a:avLst/>
          </a:prstGeom>
          <a:noFill/>
          <a:ln/>
        </p:spPr>
        <p:txBody>
          <a:bodyPr wrap="square" lIns="0" tIns="0" rIns="0" bIns="0" rtlCol="0" anchor="ctr"/>
          <a:lstStyle/>
          <a:p>
            <a:pPr algn="r" indent="0" marL="0">
              <a:buNone/>
            </a:pPr>
            <a:r>
              <a:rPr lang="en-US" sz="1000" dirty="0">
                <a:solidFill>
                  <a:srgbClr val="AAB4BF"/>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E07B1C"/>
          </a:solidFill>
          <a:ln/>
        </p:spPr>
      </p:sp>
      <p:sp>
        <p:nvSpPr>
          <p:cNvPr id="3" name="Text 1"/>
          <p:cNvSpPr/>
          <p:nvPr/>
        </p:nvSpPr>
        <p:spPr>
          <a:xfrm>
            <a:off x="914400" y="1463040"/>
            <a:ext cx="10058400" cy="457200"/>
          </a:xfrm>
          <a:prstGeom prst="rect">
            <a:avLst/>
          </a:prstGeom>
          <a:noFill/>
          <a:ln/>
        </p:spPr>
        <p:txBody>
          <a:bodyPr wrap="square" lIns="0" tIns="0" rIns="0" bIns="0" rtlCol="0" anchor="ctr"/>
          <a:lstStyle/>
          <a:p>
            <a:pPr indent="0" marL="0">
              <a:buNone/>
            </a:pPr>
            <a:r>
              <a:rPr lang="en-US" sz="1600" b="1" spc="200" kern="0" dirty="0">
                <a:solidFill>
                  <a:srgbClr val="E07B1C"/>
                </a:solidFill>
                <a:latin typeface="Calibri" pitchFamily="34" charset="0"/>
                <a:ea typeface="Calibri" pitchFamily="34" charset="-122"/>
                <a:cs typeface="Calibri" pitchFamily="34" charset="-120"/>
              </a:rPr>
              <a:t>The bottom line</a:t>
            </a:r>
            <a:endParaRPr lang="en-US" sz="1600" dirty="0"/>
          </a:p>
        </p:txBody>
      </p:sp>
      <p:sp>
        <p:nvSpPr>
          <p:cNvPr id="4" name="Text 2"/>
          <p:cNvSpPr/>
          <p:nvPr/>
        </p:nvSpPr>
        <p:spPr>
          <a:xfrm>
            <a:off x="914400" y="1965960"/>
            <a:ext cx="10332720" cy="1280160"/>
          </a:xfrm>
          <a:prstGeom prst="rect">
            <a:avLst/>
          </a:prstGeom>
          <a:noFill/>
          <a:ln/>
        </p:spPr>
        <p:txBody>
          <a:bodyPr wrap="square" lIns="0" tIns="0" rIns="0" bIns="0" rtlCol="0" anchor="ctr"/>
          <a:lstStyle/>
          <a:p>
            <a:pPr indent="0" marL="0">
              <a:lnSpc>
                <a:spcPts val="3800"/>
              </a:lnSpc>
              <a:buNone/>
            </a:pPr>
            <a:r>
              <a:rPr lang="en-US" sz="3300" b="1" dirty="0">
                <a:solidFill>
                  <a:srgbClr val="FFFFFF"/>
                </a:solidFill>
                <a:latin typeface="Georgia" pitchFamily="34" charset="0"/>
                <a:ea typeface="Georgia" pitchFamily="34" charset="-122"/>
                <a:cs typeface="Georgia" pitchFamily="34" charset="-120"/>
              </a:rPr>
              <a:t>A public-health success in motion — with unfinished business.</a:t>
            </a:r>
            <a:endParaRPr lang="en-US" sz="3300" dirty="0"/>
          </a:p>
        </p:txBody>
      </p:sp>
      <p:sp>
        <p:nvSpPr>
          <p:cNvPr id="5" name="Text 3"/>
          <p:cNvSpPr/>
          <p:nvPr/>
        </p:nvSpPr>
        <p:spPr>
          <a:xfrm>
            <a:off x="914400" y="3611880"/>
            <a:ext cx="10058400" cy="1280160"/>
          </a:xfrm>
          <a:prstGeom prst="rect">
            <a:avLst/>
          </a:prstGeom>
          <a:noFill/>
          <a:ln/>
        </p:spPr>
        <p:txBody>
          <a:bodyPr wrap="square" lIns="0" tIns="0" rIns="0" bIns="0" rtlCol="0" anchor="ctr"/>
          <a:lstStyle/>
          <a:p>
            <a:pPr indent="0" marL="0">
              <a:lnSpc>
                <a:spcPts val="2300"/>
              </a:lnSpc>
              <a:buNone/>
            </a:pPr>
            <a:r>
              <a:rPr lang="en-US" sz="1600" dirty="0">
                <a:solidFill>
                  <a:srgbClr val="CBD6E2"/>
                </a:solidFill>
                <a:latin typeface="Calibri" pitchFamily="34" charset="0"/>
                <a:ea typeface="Calibri" pitchFamily="34" charset="-122"/>
                <a:cs typeface="Calibri" pitchFamily="34" charset="-120"/>
              </a:rPr>
              <a:t>Infections down 59%, deaths down 70% from peak, treatment up ten-fold. Sustained, targeted, data-driven investment — guided by the dashboard and model built in this project — is what keeps the curve falling.</a:t>
            </a:r>
            <a:endParaRPr lang="en-US" sz="1600" dirty="0"/>
          </a:p>
        </p:txBody>
      </p:sp>
      <p:sp>
        <p:nvSpPr>
          <p:cNvPr id="6" name="Shape 4"/>
          <p:cNvSpPr/>
          <p:nvPr/>
        </p:nvSpPr>
        <p:spPr>
          <a:xfrm>
            <a:off x="914400" y="5166360"/>
            <a:ext cx="3200400" cy="0"/>
          </a:xfrm>
          <a:prstGeom prst="line">
            <a:avLst/>
          </a:prstGeom>
          <a:noFill/>
          <a:ln w="25400">
            <a:solidFill>
              <a:srgbClr val="E07B1C"/>
            </a:solidFill>
            <a:prstDash val="solid"/>
          </a:ln>
        </p:spPr>
      </p:sp>
      <p:sp>
        <p:nvSpPr>
          <p:cNvPr id="7" name="Text 5"/>
          <p:cNvSpPr/>
          <p:nvPr/>
        </p:nvSpPr>
        <p:spPr>
          <a:xfrm>
            <a:off x="914400" y="5349240"/>
            <a:ext cx="10058400" cy="365760"/>
          </a:xfrm>
          <a:prstGeom prst="rect">
            <a:avLst/>
          </a:prstGeom>
          <a:noFill/>
          <a:ln/>
        </p:spPr>
        <p:txBody>
          <a:bodyPr wrap="square" lIns="0" tIns="0" rIns="0" bIns="0" rtlCol="0" anchor="ctr"/>
          <a:lstStyle/>
          <a:p>
            <a:pPr indent="0" marL="0">
              <a:buNone/>
            </a:pPr>
            <a:r>
              <a:rPr lang="en-US" sz="1300" i="1" dirty="0">
                <a:solidFill>
                  <a:srgbClr val="9FB0C0"/>
                </a:solidFill>
                <a:latin typeface="Calibri" pitchFamily="34" charset="0"/>
                <a:ea typeface="Calibri" pitchFamily="34" charset="-122"/>
                <a:cs typeface="Calibri" pitchFamily="34" charset="-120"/>
              </a:rPr>
              <a:t>Built with Power BI  •  Data: World Health Organization  •  2000–2024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HIV Trends &amp; Treatment Effectiveness Analysis</dc:title>
  <dc:subject>PptxGenJS Presentation</dc:subject>
  <dc:creator>HIV Analysis</dc:creator>
  <cp:lastModifiedBy>HIV Analysis</cp:lastModifiedBy>
  <cp:revision>1</cp:revision>
  <dcterms:created xsi:type="dcterms:W3CDTF">2026-05-31T08:19:59Z</dcterms:created>
  <dcterms:modified xsi:type="dcterms:W3CDTF">2026-05-31T08:19:59Z</dcterms:modified>
</cp:coreProperties>
</file>