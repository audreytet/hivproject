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•  PUBLIC HEALTH ANALYSIS  •  POWER 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HIV TRENDS
</a:t>
            </a:r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TREATMENT EFFECTIVENESS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the global HIV landscape, 2000–2024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846320"/>
            <a:ext cx="3657600" cy="0"/>
          </a:xfrm>
          <a:prstGeom prst="line">
            <a:avLst/>
          </a:prstGeom>
          <a:noFill/>
          <a:ln w="25400">
            <a:solidFill>
              <a:srgbClr val="E07B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World Health Organization (WHO)   |   150 countries  •  6 WHO regions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 (2024)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has shifted from a fatal disease to a managed chronic condition — but the job is unfinished.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70048" cy="1554480"/>
          </a:xfrm>
          <a:prstGeom prst="rect">
            <a:avLst/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670048" cy="91440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984K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−59% since 2000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70048" cy="1554480"/>
          </a:xfrm>
          <a:prstGeom prst="rect">
            <a:avLst/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737360"/>
            <a:ext cx="2670048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523K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26700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DEATHS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9443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 from 2004 peak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70048" cy="1554480"/>
          </a:xfrm>
          <a:prstGeom prst="rect">
            <a:avLst/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37360"/>
            <a:ext cx="2670048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35.2M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6700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w/ HIV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9443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prevalence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70048" cy="1554480"/>
          </a:xfrm>
          <a:prstGeom prst="rect">
            <a:avLst/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737360"/>
            <a:ext cx="2670048" cy="914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52560" y="26700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COVERAGE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29443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PLHIV-weighted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39776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04672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Infections down, but stalling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4672" y="5166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59% since 2000 — yet essentially flat from 2023 to 2024 (+0.25%).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343400" y="370332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9432" y="39776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99432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99432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is working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599432" y="5166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coverage and death rate move in opposite directions (r ≈ −0.48).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138160" y="370332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94192" y="39776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394192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394192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Burden keeps growing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394192" y="5166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live with HIV every year, so the care burden expands.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infections truly declining?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new infections and deaths have fallen sharply — but the decline is flattening.</a:t>
            </a:r>
            <a:endParaRPr lang="en-US" sz="1400" dirty="0"/>
          </a:p>
        </p:txBody>
      </p:sp>
      <p:pic>
        <p:nvPicPr>
          <p:cNvPr id="5" name="Image 0" descr="charts/c1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949440" cy="3909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783080"/>
            <a:ext cx="3840480" cy="44805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says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infections: 2.40M → 0.98M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59% drop since 2000.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Deaths: down ~70% from the 2004 peak.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2023→2024 infections barely moved (+0.25%).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prevention gains are plateauing — renewed effort is needed to keep the curve falling.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success that creates a new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deaths fall, more people live with HIV — driven by a ten-fold rise in treatment access.</a:t>
            </a:r>
            <a:endParaRPr lang="en-US" sz="1400" dirty="0"/>
          </a:p>
        </p:txBody>
      </p:sp>
      <p:pic>
        <p:nvPicPr>
          <p:cNvPr id="5" name="Image 0" descr="charts/c2_plh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577840" cy="3137535"/>
          </a:xfrm>
          <a:prstGeom prst="rect">
            <a:avLst/>
          </a:prstGeom>
        </p:spPr>
      </p:pic>
      <p:pic>
        <p:nvPicPr>
          <p:cNvPr id="6" name="Image 1" descr="charts/c3_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577840" cy="31375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5212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07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chronic-condition signature.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HIV climbed from 22M (2000) to 35.2M (2024) precisely because ART now keeps people alive — average coverage rose from 7% to 66%. The mortality win is real, but it locks in a permanent, growing need for lifelong treatment and financing.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treatment reduce mortality?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108 countries, higher ART coverage is clearly associated with lower death rates.</a:t>
            </a:r>
            <a:endParaRPr lang="en-US" sz="1400" dirty="0"/>
          </a:p>
        </p:txBody>
      </p:sp>
      <p:pic>
        <p:nvPicPr>
          <p:cNvPr id="5" name="Image 0" descr="charts/c6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7132320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828800"/>
            <a:ext cx="1737360" cy="1737360"/>
          </a:xfrm>
          <a:prstGeom prst="ellipse">
            <a:avLst/>
          </a:prstGeom>
          <a:solidFill>
            <a:srgbClr val="F4F6F8"/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154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540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−0.48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9552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4206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evidence that treatment programmes save lives. The link is moderate, not perfect, because outcomes also depend on early diagnosis, adherence, and health-system quality — but the direction is unmistakable.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geography of the epidemic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carries ~75% of the global burden — but the highest death rates sit elsewhere.</a:t>
            </a:r>
            <a:endParaRPr lang="en-US" sz="1400" dirty="0"/>
          </a:p>
        </p:txBody>
      </p:sp>
      <p:pic>
        <p:nvPicPr>
          <p:cNvPr id="5" name="Image 0" descr="charts/c5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852160" cy="3304749"/>
          </a:xfrm>
          <a:prstGeom prst="rect">
            <a:avLst/>
          </a:prstGeom>
        </p:spPr>
      </p:pic>
      <p:pic>
        <p:nvPicPr>
          <p:cNvPr id="6" name="Image 1" descr="charts/c4_top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394960" cy="32369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212080"/>
            <a:ext cx="11064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532180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≠ death rate.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leads on absolute burden (26.3M living with HIV, led by South Africa at 7.8M). Yet the Eastern Mediterranean (3.81%) and Western Pacific (2.71%) post the highest death rates — regions where treatment access lags the size of the epidemic.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intervention is most urgent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lenses on risk: where deaths outnumber new infections, and where coverage is dangerously low.</a:t>
            </a:r>
            <a:endParaRPr lang="en-US" sz="1400" dirty="0"/>
          </a:p>
        </p:txBody>
      </p:sp>
      <p:pic>
        <p:nvPicPr>
          <p:cNvPr id="5" name="Image 0" descr="charts/c7_per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577840" cy="3346704"/>
          </a:xfrm>
          <a:prstGeom prst="rect">
            <a:avLst/>
          </a:prstGeom>
        </p:spPr>
      </p:pic>
      <p:pic>
        <p:nvPicPr>
          <p:cNvPr id="6" name="Image 1" descr="charts/c8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577840" cy="33467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519379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07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list.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Lesotho, Ethiopia, Malawi and Zimbabwe record more deaths than new infections (&gt;1,000 per 1,000) — a retention-in-care problem. Meanwhile Pakistan (16%), Sudan (20%), Madagascar (29%) and Indonesia (41%) pair large burdens with sub-50% ART coverage — the clearest targets for urgent scale-up.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89611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11096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coverage gaps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176479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funding to low-ART, high-burden countries — Pakistan, Indonesia, Madagascar, Congo, Sudan. Largest available mortality win.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42616"/>
            <a:ext cx="109728" cy="89611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73405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Re-energise prevention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71576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infections plateauing, renew PrEP, testing and education — focused on Africa and rising-infection settings like the Philippines.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93592"/>
            <a:ext cx="109728" cy="89611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6850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growing care pool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366674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sustainable, long-term financing for lifelong ART so the mortality gains are never reversed.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44568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44568"/>
            <a:ext cx="109728" cy="89611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764024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6360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retention hotspots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6177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Lesotho, Ethiopia, Malawi and Zimbabwe, prioritise early diagnosis, adherence and viral suppression.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95544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95544"/>
            <a:ext cx="109728" cy="89611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71500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558698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Modernise data reporting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17720" y="556869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five-yearly indicators to annual reporting everywhere for timelier monitoring and faster course-correction.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B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07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public-health success in motion — with unfinished business.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B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Infections down 59%, deaths down 70% from peak, treatment up ten-fold. Sustained, targeted, data-driven investment — guided by the model and dashboard built here — is what keeps the curve falling.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3200400" cy="0"/>
          </a:xfrm>
          <a:prstGeom prst="line">
            <a:avLst/>
          </a:prstGeom>
          <a:noFill/>
          <a:ln w="25400">
            <a:solidFill>
              <a:srgbClr val="E07B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 •  Data: World Health Organization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HIV Trends &amp; Treatment Effectiveness</dc:title>
  <dc:subject>PptxGenJS Presentation</dc:subject>
  <dc:creator>HIV Analysis</dc:creator>
  <cp:lastModifiedBy>HIV Analysis</cp:lastModifiedBy>
  <cp:revision>1</cp:revision>
  <dcterms:created xsi:type="dcterms:W3CDTF">2026-05-29T10:30:24Z</dcterms:created>
  <dcterms:modified xsi:type="dcterms:W3CDTF">2026-05-29T10:30:24Z</dcterms:modified>
</cp:coreProperties>
</file>